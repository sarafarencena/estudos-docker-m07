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6d09985a464908" /><Relationship Type="http://schemas.openxmlformats.org/officeDocument/2006/relationships/extended-properties" Target="/docProps/app.xml" Id="R3db5cd4485054a75" /><Relationship Type="http://schemas.openxmlformats.org/officeDocument/2006/relationships/officeDocument" Target="/ppt/presentation.xml" Id="Reba5f558f80544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767daa40e04e87"/>
  </p:sldMasterIdLst>
  <p:notesMasterIdLst>
    <p:notesMasterId xmlns:r="http://schemas.openxmlformats.org/officeDocument/2006/relationships" r:id="R8240f3f8926e488f"/>
  </p:notesMasterIdLst>
  <p:sldIdLst>
    <p:sldId xmlns:r="http://schemas.openxmlformats.org/officeDocument/2006/relationships" id="256" r:id="R1f0cc9886a70450c"/>
    <p:sldId xmlns:r="http://schemas.openxmlformats.org/officeDocument/2006/relationships" id="257" r:id="R88c6b2ee49e24f04"/>
    <p:sldId xmlns:r="http://schemas.openxmlformats.org/officeDocument/2006/relationships" id="258" r:id="Rff4d5e5243bc4e70"/>
    <p:sldId xmlns:r="http://schemas.openxmlformats.org/officeDocument/2006/relationships" id="259" r:id="R620912614ac74bdf"/>
    <p:sldId xmlns:r="http://schemas.openxmlformats.org/officeDocument/2006/relationships" id="260" r:id="Re885ba9d3d434db1"/>
    <p:sldId xmlns:r="http://schemas.openxmlformats.org/officeDocument/2006/relationships" id="261" r:id="Reb9f53d25511471b"/>
    <p:sldId xmlns:r="http://schemas.openxmlformats.org/officeDocument/2006/relationships" id="262" r:id="R4d73fbcaf21548a3"/>
    <p:sldId xmlns:r="http://schemas.openxmlformats.org/officeDocument/2006/relationships" id="263" r:id="R8aee600e6e4b477e"/>
    <p:sldId xmlns:r="http://schemas.openxmlformats.org/officeDocument/2006/relationships" id="264" r:id="Rf67f23b250d547bb"/>
    <p:sldId xmlns:r="http://schemas.openxmlformats.org/officeDocument/2006/relationships" id="265" r:id="R8bd1a212f1b14879"/>
    <p:sldId xmlns:r="http://schemas.openxmlformats.org/officeDocument/2006/relationships" id="266" r:id="Rc67becdca3cb4705"/>
    <p:sldId xmlns:r="http://schemas.openxmlformats.org/officeDocument/2006/relationships" id="267" r:id="R13a171d55ea9403d"/>
    <p:sldId xmlns:r="http://schemas.openxmlformats.org/officeDocument/2006/relationships" id="268" r:id="R4ccf7077ec344218"/>
    <p:sldId xmlns:r="http://schemas.openxmlformats.org/officeDocument/2006/relationships" id="269" r:id="R540171fc61e840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c26ac768b64202" /><Relationship Type="http://schemas.openxmlformats.org/officeDocument/2006/relationships/slideMaster" Target="/ppt/slideMasters/slideMaster1.xml" Id="Rad767daa40e04e87" /><Relationship Type="http://schemas.openxmlformats.org/officeDocument/2006/relationships/notesMaster" Target="/ppt/notesMasters/notesMaster1.xml" Id="R8240f3f8926e488f" /><Relationship Type="http://schemas.openxmlformats.org/officeDocument/2006/relationships/presProps" Target="/ppt/presProps.xml" Id="R1a4c47ecc0074f24" /><Relationship Type="http://schemas.openxmlformats.org/officeDocument/2006/relationships/tableStyles" Target="/ppt/tableStyles.xml" Id="R1fcc7905d3e54382" /><Relationship Type="http://schemas.openxmlformats.org/officeDocument/2006/relationships/slide" Target="/ppt/slides/slide1.xml" Id="R1f0cc9886a70450c" /><Relationship Type="http://schemas.openxmlformats.org/officeDocument/2006/relationships/slide" Target="/ppt/slides/slide2.xml" Id="R88c6b2ee49e24f04" /><Relationship Type="http://schemas.openxmlformats.org/officeDocument/2006/relationships/slide" Target="/ppt/slides/slide3.xml" Id="Rff4d5e5243bc4e70" /><Relationship Type="http://schemas.openxmlformats.org/officeDocument/2006/relationships/slide" Target="/ppt/slides/slide4.xml" Id="R620912614ac74bdf" /><Relationship Type="http://schemas.openxmlformats.org/officeDocument/2006/relationships/slide" Target="/ppt/slides/slide5.xml" Id="Re885ba9d3d434db1" /><Relationship Type="http://schemas.openxmlformats.org/officeDocument/2006/relationships/slide" Target="/ppt/slides/slide6.xml" Id="Reb9f53d25511471b" /><Relationship Type="http://schemas.openxmlformats.org/officeDocument/2006/relationships/slide" Target="/ppt/slides/slide7.xml" Id="R4d73fbcaf21548a3" /><Relationship Type="http://schemas.openxmlformats.org/officeDocument/2006/relationships/slide" Target="/ppt/slides/slide8.xml" Id="R8aee600e6e4b477e" /><Relationship Type="http://schemas.openxmlformats.org/officeDocument/2006/relationships/slide" Target="/ppt/slides/slide9.xml" Id="Rf67f23b250d547bb" /><Relationship Type="http://schemas.openxmlformats.org/officeDocument/2006/relationships/slide" Target="/ppt/slides/slide10.xml" Id="R8bd1a212f1b14879" /><Relationship Type="http://schemas.openxmlformats.org/officeDocument/2006/relationships/slide" Target="/ppt/slides/slide11.xml" Id="Rc67becdca3cb4705" /><Relationship Type="http://schemas.openxmlformats.org/officeDocument/2006/relationships/slide" Target="/ppt/slides/slide12.xml" Id="R13a171d55ea9403d" /><Relationship Type="http://schemas.openxmlformats.org/officeDocument/2006/relationships/slide" Target="/ppt/slides/slide13.xml" Id="R4ccf7077ec344218" /><Relationship Type="http://schemas.openxmlformats.org/officeDocument/2006/relationships/slide" Target="/ppt/slides/slide14.xml" Id="R540171fc61e840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df7c86dfed45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a0a5b189394e4c" /><Relationship Type="http://schemas.openxmlformats.org/officeDocument/2006/relationships/notesMaster" Target="/ppt/notesMasters/notesMaster1.xml" Id="Ra215f4c375ad44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3066c88d52438a" /><Relationship Type="http://schemas.openxmlformats.org/officeDocument/2006/relationships/notesMaster" Target="/ppt/notesMasters/notesMaster1.xml" Id="Rfe2b6933bd7b4e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7699fee8264e2b" /><Relationship Type="http://schemas.openxmlformats.org/officeDocument/2006/relationships/notesMaster" Target="/ppt/notesMasters/notesMaster1.xml" Id="R2d931a94d2b54a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2a570c2ff542aa" /><Relationship Type="http://schemas.openxmlformats.org/officeDocument/2006/relationships/notesMaster" Target="/ppt/notesMasters/notesMaster1.xml" Id="R318e0b8f396047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52e3d18c0d46b1" /><Relationship Type="http://schemas.openxmlformats.org/officeDocument/2006/relationships/notesMaster" Target="/ppt/notesMasters/notesMaster1.xml" Id="R94b61f436c0f4a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c43d65c2c84e9b" /><Relationship Type="http://schemas.openxmlformats.org/officeDocument/2006/relationships/notesMaster" Target="/ppt/notesMasters/notesMaster1.xml" Id="Rd48b803d38fc47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504d2804f448e4" /><Relationship Type="http://schemas.openxmlformats.org/officeDocument/2006/relationships/notesMaster" Target="/ppt/notesMasters/notesMaster1.xml" Id="R2165a40d79f445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58c8cfd0714c07" /><Relationship Type="http://schemas.openxmlformats.org/officeDocument/2006/relationships/notesMaster" Target="/ppt/notesMasters/notesMaster1.xml" Id="R29bb8282223440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2494c7dace4b65" /><Relationship Type="http://schemas.openxmlformats.org/officeDocument/2006/relationships/notesMaster" Target="/ppt/notesMasters/notesMaster1.xml" Id="R97fdccdc385b42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14ebd1a56b4273" /><Relationship Type="http://schemas.openxmlformats.org/officeDocument/2006/relationships/notesMaster" Target="/ppt/notesMasters/notesMaster1.xml" Id="R1afe3867804a4a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e53498a2194402" /><Relationship Type="http://schemas.openxmlformats.org/officeDocument/2006/relationships/notesMaster" Target="/ppt/notesMasters/notesMaster1.xml" Id="Rb5354c70d0e64d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96dd2636874f35" /><Relationship Type="http://schemas.openxmlformats.org/officeDocument/2006/relationships/notesMaster" Target="/ppt/notesMasters/notesMaster1.xml" Id="R5af885970f7441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c6363bbc4a4fe3" /><Relationship Type="http://schemas.openxmlformats.org/officeDocument/2006/relationships/notesMaster" Target="/ppt/notesMasters/notesMaster1.xml" Id="R7da1f0fd51814e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6de7d46879d4cda" /><Relationship Type="http://schemas.openxmlformats.org/officeDocument/2006/relationships/notesMaster" Target="/ppt/notesMasters/notesMaster1.xml" Id="Rab26cc57c2c448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Capa. A imagem representa um artefato que sai do ambiente de build e chega a uma imagem menor de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a sequência da aula. Não é uma lista de comandos isolados. Cada etapa responde a uma pergunta sobre o que entra na imagem e o que roda depois.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é o modelo mental principal. À esquerda, não existem containers conversando. À direita, há containers em execução conectados pela rede declarada no Compose.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o Dockerfile da pasta 01-hello-c-multistage. Execute o build e o run. Depois peça que a turma aponte exatamente qual arquivo cruza a fronteira entre os estágios.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as listas à esquerda e à direita. Use a pergunta: se o Dockerfile copiasse /src em vez de /src/hello, quais arquivos entrariam na imagem final?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o compose.yaml, o nginx.conf e a página React. Explique que o navegador não resolve o nome api. Esse nome funciona dentro da rede dos serviços.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o Dockerfile do frontend. O primeiro estágio existe para gerar dist. O segundo estágio serve apenas os arquivos prontos. Se precisar, comente que package-lock melhora a reprodutibilidade do build.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este caso com o C: o artefato não é um único binário, mas um ambiente virtual preparado. Ainda assim, o princípio é o mesmo: copiar somente aquilo que a execução usa.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Pare neste slide antes de abrir o compose. Use esta regra para tratar a dúvida mais comum: o Dockerfile constrói uma imagem; o Compose escolhe como os containers dessa imagem vão rodar juntos.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o compose.yaml e o nginx.conf. O objetivo não é decorar o arquivo. A equipe precisa saber quem acessa qual porta e onde o nome api é resolvido.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Faça a demonstração com os arquivos de 02-calculadora-flask-react. Mostre a configuração resolvida, a página no navegador e o resultado de docker compose ps, que deixa visível a diferença entre porta exposta e publicada.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a pasta 03-desafio-go-compose-5c. A API Go completa é fornecida. A entrega da equipe é o Dockerfile multi-stage e o compose.yaml. O frontend não deve ser copiado nem refeito.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como preencher registro-5c.md. Valorize as evidências concretas: link de documentação, resultado de comando, teste normal e um teste de erro.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retomando o modelo mental do slide 3. Indique os materiais de encontro4: demonstração C, demonstração React + Flask e desafio Go com registro 5C.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4409b90d9245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beff4e3e4a4fa1" /><Relationship Type="http://schemas.openxmlformats.org/officeDocument/2006/relationships/slideLayout" Target="/ppt/slideLayouts/slideLayout1.xml" Id="R11e61073deaf4a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e61073deaf4a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5bd007d0f422a" /><Relationship Type="http://schemas.openxmlformats.org/officeDocument/2006/relationships/image" Target="/ppt/media/image.png" Id="Rcb520c79c3934ca0" /><Relationship Type="http://schemas.openxmlformats.org/officeDocument/2006/relationships/notesSlide" Target="/ppt/notesSlides/notesSlide1.xml" Id="R6a7961c8b4cc4b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8ccef1060418b" /><Relationship Type="http://schemas.openxmlformats.org/officeDocument/2006/relationships/notesSlide" Target="/ppt/notesSlides/notesSlide2.xml" Id="Rbe4da4a9472046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b4e889a1b47e3" /><Relationship Type="http://schemas.openxmlformats.org/officeDocument/2006/relationships/notesSlide" Target="/ppt/notesSlides/notesSlide3.xml" Id="Rda0b8732608f48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9c46d78484184" /><Relationship Type="http://schemas.openxmlformats.org/officeDocument/2006/relationships/notesSlide" Target="/ppt/notesSlides/notesSlide4.xml" Id="R02db610de9b543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5fd13b5724053" /><Relationship Type="http://schemas.openxmlformats.org/officeDocument/2006/relationships/notesSlide" Target="/ppt/notesSlides/notesSlide5.xml" Id="R7feee81cb8454c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71a121a154e39" /><Relationship Type="http://schemas.openxmlformats.org/officeDocument/2006/relationships/notesSlide" Target="/ppt/notesSlides/notesSlide6.xml" Id="R5dda0d0f389b41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aaa351c2f4704" /><Relationship Type="http://schemas.openxmlformats.org/officeDocument/2006/relationships/notesSlide" Target="/ppt/notesSlides/notesSlide7.xml" Id="R35ab64e83dd740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6b82b99cf4fb6" /><Relationship Type="http://schemas.openxmlformats.org/officeDocument/2006/relationships/notesSlide" Target="/ppt/notesSlides/notesSlide8.xml" Id="Rbf0ec6e3c9fb44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409d85a6b4e79" /><Relationship Type="http://schemas.openxmlformats.org/officeDocument/2006/relationships/notesSlide" Target="/ppt/notesSlides/notesSlide9.xml" Id="R53c90100c9154a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df58f187a4e1e" /><Relationship Type="http://schemas.openxmlformats.org/officeDocument/2006/relationships/notesSlide" Target="/ppt/notesSlides/notesSlide10.xml" Id="R9c48ed47723c46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006c25b204fcb" /><Relationship Type="http://schemas.openxmlformats.org/officeDocument/2006/relationships/notesSlide" Target="/ppt/notesSlides/notesSlide11.xml" Id="Rffcef1a55eb748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fbf80ff9040e6" /><Relationship Type="http://schemas.openxmlformats.org/officeDocument/2006/relationships/notesSlide" Target="/ppt/notesSlides/notesSlide12.xml" Id="Raeb78363134c4c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1a36ba7fd4f12" /><Relationship Type="http://schemas.openxmlformats.org/officeDocument/2006/relationships/notesSlide" Target="/ppt/notesSlides/notesSlide13.xml" Id="R8890ae7d52ed4b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99f7608a44265" /><Relationship Type="http://schemas.openxmlformats.org/officeDocument/2006/relationships/notesSlide" Target="/ppt/notesSlides/notesSlide14.xml" Id="Rc785548abc364a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5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20c79c3934ca0"/>
          <a:srcRect xmlns:a="http://schemas.openxmlformats.org/drawingml/2006/main" l="20688" t="0" r="206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0"/>
            <a:ext cx="7143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gradient">
            <a:extLst xmlns:a="http://schemas.openxmlformats.org/drawingml/2006/main">
              <a:ext uri="{FF2B5EF4-FFF2-40B4-BE49-F238E27FC236}">
                <a16:creationId xmlns:a16="http://schemas.microsoft.com/office/drawing/2014/main" id="{AC639F8A-2B70-410C-8BE7-AA4E3D7C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24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F0C3E592-8699-49F3-B7A0-B7B432D6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66675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overline">
            <a:extLst xmlns:a="http://schemas.openxmlformats.org/drawingml/2006/main">
              <a:ext uri="{FF2B5EF4-FFF2-40B4-BE49-F238E27FC236}">
                <a16:creationId xmlns:a16="http://schemas.microsoft.com/office/drawing/2014/main" id="{CE1101F2-0875-45F7-B4D9-FBAB02BA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9906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F3ED"/>
                </a:solidFill>
                <a:latin typeface="Space Mono"/>
                <a:ea typeface="Space Mono"/>
                <a:cs typeface="Space Mono"/>
              </a:defRPr>
            </a:pPr>
            <a:r>
              <a:rPr sz="975" b="1">
                <a:solidFill>
                  <a:srgbClr val="DDF3ED"/>
                </a:solidFill>
                <a:latin typeface="Space Mono"/>
                <a:ea typeface="Space Mono"/>
                <a:cs typeface="Space Mono"/>
              </a:rPr>
              <a:t>CONTAINERS E DOCKER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58DAC2C-CC98-48CD-BEF1-695BB41E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287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Build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multi-stage</a:t>
            </a:r>
          </a:p>
        </p:txBody>
      </p:sp>
      <p:sp>
        <p:nvSpPr>
          <p:cNvPr id="6" name="cover-copy">
            <a:extLst xmlns:a="http://schemas.openxmlformats.org/drawingml/2006/main">
              <a:ext uri="{FF2B5EF4-FFF2-40B4-BE49-F238E27FC236}">
                <a16:creationId xmlns:a16="http://schemas.microsoft.com/office/drawing/2014/main" id="{73EE1811-D29E-43CC-B3B5-8AEE326C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95625"/>
            <a:ext cx="438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3E4EC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E3E4EC"/>
                </a:solidFill>
                <a:latin typeface="Montserrat"/>
                <a:ea typeface="Montserrat"/>
                <a:cs typeface="Montserrat"/>
              </a:rPr>
              <a:t>Do binário em C à aplicação React + Flask</a:t>
            </a:r>
          </a:p>
          <a:p xmlns:a="http://schemas.openxmlformats.org/drawingml/2006/main">
            <a:pPr algn="l">
              <a:defRPr sz="1425" b="0">
                <a:solidFill>
                  <a:srgbClr val="E3E4EC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E3E4EC"/>
                </a:solidFill>
                <a:latin typeface="Montserrat"/>
                <a:ea typeface="Montserrat"/>
                <a:cs typeface="Montserrat"/>
              </a:rPr>
              <a:t>com Docker Compose e validação 5C</a:t>
            </a:r>
          </a:p>
        </p:txBody>
      </p:sp>
      <p:sp>
        <p:nvSpPr>
          <p:cNvPr id="7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D6C55337-07AA-4802-B2DD-4073A1FF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197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CBD8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C9CBD8"/>
                </a:solidFill>
                <a:latin typeface="Montserrat"/>
                <a:ea typeface="Montserrat"/>
                <a:cs typeface="Montserrat"/>
              </a:rPr>
              <a:t>Aula da semana 4</a:t>
            </a:r>
          </a:p>
        </p:txBody>
      </p:sp>
      <p:sp>
        <p:nvSpPr>
          <p:cNvPr id="8" name="cover-number">
            <a:extLst xmlns:a="http://schemas.openxmlformats.org/drawingml/2006/main">
              <a:ext uri="{FF2B5EF4-FFF2-40B4-BE49-F238E27FC236}">
                <a16:creationId xmlns:a16="http://schemas.microsoft.com/office/drawing/2014/main" id="{5CA04C8F-CCD7-4135-BBBF-6B55FBCE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0960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  <a:latin typeface="Space Mono"/>
                <a:ea typeface="Space Mono"/>
                <a:cs typeface="Space Mono"/>
              </a:defRPr>
            </a:pPr>
            <a:r>
              <a:rPr sz="1200" b="1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860326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2">
            <a:extLst xmlns:a="http://schemas.openxmlformats.org/drawingml/2006/main">
              <a:ext uri="{FF2B5EF4-FFF2-40B4-BE49-F238E27FC236}">
                <a16:creationId xmlns:a16="http://schemas.microsoft.com/office/drawing/2014/main" id="{025C6B46-9AC7-4B77-BD99-A446CB8C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5AD5"/>
                </a:solidFill>
                <a:latin typeface="Space Mono"/>
                <a:ea typeface="Space Mono"/>
                <a:cs typeface="Space Mono"/>
              </a:defRPr>
            </a:pPr>
            <a:r>
              <a:rPr sz="900" b="1">
                <a:solidFill>
                  <a:srgbClr val="805AD5"/>
                </a:solidFill>
                <a:latin typeface="Space Mono"/>
                <a:ea typeface="Space Mono"/>
                <a:cs typeface="Space Mono"/>
              </a:rPr>
              <a:t>ENCONTRO 04  /  02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D8103F3E-9B93-40AD-A4ED-4A762910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Objetivos da aula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645F0654-08BA-4FEE-8EA1-9DFC04C8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73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5D6373"/>
                </a:solidFill>
                <a:latin typeface="Montserrat"/>
                <a:ea typeface="Montserrat"/>
                <a:cs typeface="Montserrat"/>
              </a:rPr>
              <a:t>A turma acompanha uma mesma ideia em três escalas de complexidade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BE1AB891-8504-4B06-9CD8-82844CF9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373"/>
                </a:solidFill>
                <a:latin typeface="Space Mono"/>
                <a:ea typeface="Space Mono"/>
                <a:cs typeface="Space Mono"/>
              </a:defRPr>
            </a:pPr>
            <a:r>
              <a:rPr sz="900" b="0">
                <a:solidFill>
                  <a:srgbClr val="5D6373"/>
                </a:solidFill>
                <a:latin typeface="Space Mono"/>
                <a:ea typeface="Space Mono"/>
                <a:cs typeface="Space Mono"/>
              </a:rPr>
              <a:t>02</a:t>
            </a:r>
          </a:p>
        </p:txBody>
      </p:sp>
      <p:sp>
        <p:nvSpPr>
          <p:cNvPr id="5" name="objective-01">
            <a:extLst xmlns:a="http://schemas.openxmlformats.org/drawingml/2006/main">
              <a:ext uri="{FF2B5EF4-FFF2-40B4-BE49-F238E27FC236}">
                <a16:creationId xmlns:a16="http://schemas.microsoft.com/office/drawing/2014/main" id="{912EB5D6-7AF1-4B64-B9A7-56BA5AA0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4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805AD5"/>
                </a:solidFill>
                <a:latin typeface="Space Mono"/>
                <a:ea typeface="Space Mono"/>
                <a:cs typeface="Space Mono"/>
              </a:defRPr>
            </a:pPr>
            <a:r>
              <a:rPr sz="3300" b="1">
                <a:solidFill>
                  <a:srgbClr val="805AD5"/>
                </a:solidFill>
                <a:latin typeface="Space Mono"/>
                <a:ea typeface="Space Mono"/>
                <a:cs typeface="Space Mono"/>
              </a:rPr>
              <a:t>01</a:t>
            </a:r>
          </a:p>
        </p:txBody>
      </p:sp>
      <p:sp>
        <p:nvSpPr>
          <p:cNvPr id="6" name="objective-01-copy">
            <a:extLst xmlns:a="http://schemas.openxmlformats.org/drawingml/2006/main">
              <a:ext uri="{FF2B5EF4-FFF2-40B4-BE49-F238E27FC236}">
                <a16:creationId xmlns:a16="http://schemas.microsoft.com/office/drawing/2014/main" id="{310EEBF6-628B-4A06-AAFE-5FD0B986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36220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79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Separar</a:t>
            </a:r>
          </a:p>
          <a:p xmlns:a="http://schemas.openxmlformats.org/drawingml/2006/main">
            <a:pPr algn="l">
              <a:defRPr sz="1800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ambiente de build e execução</a:t>
            </a:r>
          </a:p>
        </p:txBody>
      </p:sp>
      <p:sp>
        <p:nvSpPr>
          <p:cNvPr id="7" name="objective-02">
            <a:extLst xmlns:a="http://schemas.openxmlformats.org/drawingml/2006/main">
              <a:ext uri="{FF2B5EF4-FFF2-40B4-BE49-F238E27FC236}">
                <a16:creationId xmlns:a16="http://schemas.microsoft.com/office/drawing/2014/main" id="{702A72E3-E764-49B8-8DFB-F1075668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33625"/>
            <a:ext cx="104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805AD5"/>
                </a:solidFill>
                <a:latin typeface="Space Mono"/>
                <a:ea typeface="Space Mono"/>
                <a:cs typeface="Space Mono"/>
              </a:defRPr>
            </a:pPr>
            <a:r>
              <a:rPr sz="3300" b="1">
                <a:solidFill>
                  <a:srgbClr val="805AD5"/>
                </a:solidFill>
                <a:latin typeface="Space Mono"/>
                <a:ea typeface="Space Mono"/>
                <a:cs typeface="Space Mono"/>
              </a:rPr>
              <a:t>02</a:t>
            </a:r>
          </a:p>
        </p:txBody>
      </p:sp>
      <p:sp>
        <p:nvSpPr>
          <p:cNvPr id="8" name="objective-02-copy">
            <a:extLst xmlns:a="http://schemas.openxmlformats.org/drawingml/2006/main">
              <a:ext uri="{FF2B5EF4-FFF2-40B4-BE49-F238E27FC236}">
                <a16:creationId xmlns:a16="http://schemas.microsoft.com/office/drawing/2014/main" id="{25DDCB9C-02F2-40F4-AFF6-81DEB329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Explicar o artefato que</a:t>
            </a:r>
          </a:p>
          <a:p xmlns:a="http://schemas.openxmlformats.org/drawingml/2006/main">
            <a:pPr algn="l">
              <a:defRPr sz="1800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atravessa os estágios</a:t>
            </a:r>
          </a:p>
        </p:txBody>
      </p:sp>
      <p:sp>
        <p:nvSpPr>
          <p:cNvPr id="9" name="objective-03">
            <a:extLst xmlns:a="http://schemas.openxmlformats.org/drawingml/2006/main">
              <a:ext uri="{FF2B5EF4-FFF2-40B4-BE49-F238E27FC236}">
                <a16:creationId xmlns:a16="http://schemas.microsoft.com/office/drawing/2014/main" id="{E159ABD8-E6A0-4DCD-8790-9360DF5A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4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805AD5"/>
                </a:solidFill>
                <a:latin typeface="Space Mono"/>
                <a:ea typeface="Space Mono"/>
                <a:cs typeface="Space Mono"/>
              </a:defRPr>
            </a:pPr>
            <a:r>
              <a:rPr sz="3300" b="1">
                <a:solidFill>
                  <a:srgbClr val="805AD5"/>
                </a:solidFill>
                <a:latin typeface="Space Mono"/>
                <a:ea typeface="Space Mono"/>
                <a:cs typeface="Space Mono"/>
              </a:rPr>
              <a:t>03</a:t>
            </a:r>
          </a:p>
        </p:txBody>
      </p:sp>
      <p:sp>
        <p:nvSpPr>
          <p:cNvPr id="10" name="objective-03-copy">
            <a:extLst xmlns:a="http://schemas.openxmlformats.org/drawingml/2006/main">
              <a:ext uri="{FF2B5EF4-FFF2-40B4-BE49-F238E27FC236}">
                <a16:creationId xmlns:a16="http://schemas.microsoft.com/office/drawing/2014/main" id="{497C6AA1-FE0D-4730-84C7-B5FB6DB2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24325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Distinguir Dockerfile,</a:t>
            </a:r>
          </a:p>
          <a:p xmlns:a="http://schemas.openxmlformats.org/drawingml/2006/main">
            <a:pPr algn="l">
              <a:defRPr sz="1800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Compose, porta e rede</a:t>
            </a:r>
          </a:p>
        </p:txBody>
      </p:sp>
      <p:sp>
        <p:nvSpPr>
          <p:cNvPr id="11" name="objective-04">
            <a:extLst xmlns:a="http://schemas.openxmlformats.org/drawingml/2006/main">
              <a:ext uri="{FF2B5EF4-FFF2-40B4-BE49-F238E27FC236}">
                <a16:creationId xmlns:a16="http://schemas.microsoft.com/office/drawing/2014/main" id="{C7E7F288-8558-4216-A2D4-7AF7F26E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04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805AD5"/>
                </a:solidFill>
                <a:latin typeface="Space Mono"/>
                <a:ea typeface="Space Mono"/>
                <a:cs typeface="Space Mono"/>
              </a:defRPr>
            </a:pPr>
            <a:r>
              <a:rPr sz="3300" b="1">
                <a:solidFill>
                  <a:srgbClr val="805AD5"/>
                </a:solidFill>
                <a:latin typeface="Space Mono"/>
                <a:ea typeface="Space Mono"/>
                <a:cs typeface="Space Mono"/>
              </a:rPr>
              <a:t>04</a:t>
            </a:r>
          </a:p>
        </p:txBody>
      </p:sp>
      <p:sp>
        <p:nvSpPr>
          <p:cNvPr id="12" name="objective-04-copy">
            <a:extLst xmlns:a="http://schemas.openxmlformats.org/drawingml/2006/main">
              <a:ext uri="{FF2B5EF4-FFF2-40B4-BE49-F238E27FC236}">
                <a16:creationId xmlns:a16="http://schemas.microsoft.com/office/drawing/2014/main" id="{9E40B023-CC70-44BC-AC41-507AA2EE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24325"/>
            <a:ext cx="361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Construir e comprovar</a:t>
            </a:r>
          </a:p>
          <a:p xmlns:a="http://schemas.openxmlformats.org/drawingml/2006/main">
            <a:pPr algn="l">
              <a:defRPr sz="1800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uma solução no ciclo 5C</a:t>
            </a:r>
          </a:p>
        </p:txBody>
      </p:sp>
      <p:sp>
        <p:nvSpPr>
          <p:cNvPr id="13" name="divider-ee2131">
            <a:extLst xmlns:a="http://schemas.openxmlformats.org/drawingml/2006/main">
              <a:ext uri="{FF2B5EF4-FFF2-40B4-BE49-F238E27FC236}">
                <a16:creationId xmlns:a16="http://schemas.microsoft.com/office/drawing/2014/main" id="{A4B73A90-C6FC-470B-801B-84BAC81A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ive-footer">
            <a:extLst xmlns:a="http://schemas.openxmlformats.org/drawingml/2006/main">
              <a:ext uri="{FF2B5EF4-FFF2-40B4-BE49-F238E27FC236}">
                <a16:creationId xmlns:a16="http://schemas.microsoft.com/office/drawing/2014/main" id="{2EAE5D2A-E81F-4065-8BB7-3A31CF1B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73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D6373"/>
                </a:solidFill>
                <a:latin typeface="Montserrat"/>
                <a:ea typeface="Montserrat"/>
                <a:cs typeface="Montserrat"/>
              </a:rPr>
              <a:t>A demonstração começa com um binário pequeno e termina em uma arquitetura web com dois serviços.</a:t>
            </a:r>
          </a:p>
        </p:txBody>
      </p:sp>
    </p:spTree>
    <p:extLst>
      <p:ext uri="{BB962C8B-B14F-4D97-AF65-F5344CB8AC3E}">
        <p14:creationId xmlns:p14="http://schemas.microsoft.com/office/powerpoint/2010/main" val="15641314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3">
            <a:extLst xmlns:a="http://schemas.openxmlformats.org/drawingml/2006/main">
              <a:ext uri="{FF2B5EF4-FFF2-40B4-BE49-F238E27FC236}">
                <a16:creationId xmlns:a16="http://schemas.microsoft.com/office/drawing/2014/main" id="{70350A8C-2DAD-49F2-8F4C-A3692F75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5AD5"/>
                </a:solidFill>
                <a:latin typeface="Space Mono"/>
                <a:ea typeface="Space Mono"/>
                <a:cs typeface="Space Mono"/>
              </a:defRPr>
            </a:pPr>
            <a:r>
              <a:rPr sz="900" b="1">
                <a:solidFill>
                  <a:srgbClr val="805AD5"/>
                </a:solidFill>
                <a:latin typeface="Space Mono"/>
                <a:ea typeface="Space Mono"/>
                <a:cs typeface="Space Mono"/>
              </a:rPr>
              <a:t>ENCONTRO 04  /  03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A1E6B6EF-883F-49C2-8B8C-2C85E970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Build e execução são fluxos distintos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6DA7AAE9-C5ED-49AB-BEA4-35C3015D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73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5D6373"/>
                </a:solidFill>
                <a:latin typeface="Montserrat"/>
                <a:ea typeface="Montserrat"/>
                <a:cs typeface="Montserrat"/>
              </a:rPr>
              <a:t>O Dockerfile prepara a imagem. O Compose organiza containers já construídos.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965F6307-CBD0-4167-8C46-12C11910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373"/>
                </a:solidFill>
                <a:latin typeface="Space Mono"/>
                <a:ea typeface="Space Mono"/>
                <a:cs typeface="Space Mono"/>
              </a:defRPr>
            </a:pPr>
            <a:r>
              <a:rPr sz="900" b="0">
                <a:solidFill>
                  <a:srgbClr val="5D6373"/>
                </a:solidFill>
                <a:latin typeface="Space Mono"/>
                <a:ea typeface="Space Mono"/>
                <a:cs typeface="Space Mono"/>
              </a:rPr>
              <a:t>03</a:t>
            </a:r>
          </a:p>
        </p:txBody>
      </p:sp>
      <p:sp>
        <p:nvSpPr>
          <p:cNvPr id="5" name="build-label">
            <a:extLst xmlns:a="http://schemas.openxmlformats.org/drawingml/2006/main">
              <a:ext uri="{FF2B5EF4-FFF2-40B4-BE49-F238E27FC236}">
                <a16:creationId xmlns:a16="http://schemas.microsoft.com/office/drawing/2014/main" id="{ADAD2229-6F5E-4CB6-ACC5-BF14063E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3DA6"/>
                </a:solidFill>
                <a:latin typeface="Space Mono"/>
                <a:ea typeface="Space Mono"/>
                <a:cs typeface="Space Mono"/>
              </a:defRPr>
            </a:pPr>
            <a:r>
              <a:rPr sz="900" b="1">
                <a:solidFill>
                  <a:srgbClr val="5B3DA6"/>
                </a:solidFill>
                <a:latin typeface="Space Mono"/>
                <a:ea typeface="Space Mono"/>
                <a:cs typeface="Space Mono"/>
              </a:rPr>
              <a:t>DURANTE O BUILD</a:t>
            </a:r>
          </a:p>
        </p:txBody>
      </p:sp>
      <p:sp>
        <p:nvSpPr>
          <p:cNvPr id="6" name="run-label">
            <a:extLst xmlns:a="http://schemas.openxmlformats.org/drawingml/2006/main">
              <a:ext uri="{FF2B5EF4-FFF2-40B4-BE49-F238E27FC236}">
                <a16:creationId xmlns:a16="http://schemas.microsoft.com/office/drawing/2014/main" id="{EF6D9E45-E4C7-4B29-A6E1-18CA4220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2095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3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827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857"/>
                </a:solidFill>
                <a:latin typeface="Space Mono"/>
                <a:ea typeface="Space Mono"/>
                <a:cs typeface="Space Mono"/>
              </a:defRPr>
            </a:pPr>
            <a:r>
              <a:rPr sz="900" b="1">
                <a:solidFill>
                  <a:srgbClr val="166857"/>
                </a:solidFill>
                <a:latin typeface="Space Mono"/>
                <a:ea typeface="Space Mono"/>
                <a:cs typeface="Space Mono"/>
              </a:rPr>
              <a:t>DURANTE A EXECUÇÃO</a:t>
            </a:r>
          </a:p>
        </p:txBody>
      </p:sp>
      <p:sp>
        <p:nvSpPr>
          <p:cNvPr id="7" name="build-stage">
            <a:extLst xmlns:a="http://schemas.openxmlformats.org/drawingml/2006/main">
              <a:ext uri="{FF2B5EF4-FFF2-40B4-BE49-F238E27FC236}">
                <a16:creationId xmlns:a16="http://schemas.microsoft.com/office/drawing/2014/main" id="{DF48E8F1-5DC3-43B8-A99C-F2000846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238375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ECE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3DA6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5B3DA6"/>
                </a:solidFill>
                <a:latin typeface="Montserrat"/>
                <a:ea typeface="Montserrat"/>
                <a:cs typeface="Montserrat"/>
              </a:rPr>
              <a:t>builder</a:t>
            </a:r>
          </a:p>
          <a:p xmlns:a="http://schemas.openxmlformats.org/drawingml/2006/main">
            <a:pPr algn="ctr">
              <a:defRPr sz="1500" b="1">
                <a:solidFill>
                  <a:srgbClr val="5B3DA6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5B3DA6"/>
                </a:solidFill>
                <a:latin typeface="Montserrat"/>
                <a:ea typeface="Montserrat"/>
                <a:cs typeface="Montserrat"/>
              </a:rPr>
              <a:t>compilador, dependências</a:t>
            </a:r>
          </a:p>
          <a:p xmlns:a="http://schemas.openxmlformats.org/drawingml/2006/main">
            <a:pPr algn="ctr">
              <a:defRPr sz="1500" b="1">
                <a:solidFill>
                  <a:srgbClr val="5B3DA6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5B3DA6"/>
                </a:solidFill>
                <a:latin typeface="Montserrat"/>
                <a:ea typeface="Montserrat"/>
                <a:cs typeface="Montserrat"/>
              </a:rPr>
              <a:t>e código-fonte</a:t>
            </a:r>
          </a:p>
        </p:txBody>
      </p:sp>
      <p:sp>
        <p:nvSpPr>
          <p:cNvPr id="8" name="artifact">
            <a:extLst xmlns:a="http://schemas.openxmlformats.org/drawingml/2006/main">
              <a:ext uri="{FF2B5EF4-FFF2-40B4-BE49-F238E27FC236}">
                <a16:creationId xmlns:a16="http://schemas.microsoft.com/office/drawing/2014/main" id="{62D6A18D-D9FD-4900-B143-9921E024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95625"/>
            <a:ext cx="17145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7E6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C433A"/>
                </a:solidFill>
                <a:latin typeface="Space Mono"/>
                <a:ea typeface="Space Mono"/>
                <a:cs typeface="Space Mono"/>
              </a:defRPr>
            </a:pPr>
            <a:r>
              <a:rPr sz="1125" b="1">
                <a:solidFill>
                  <a:srgbClr val="9C433A"/>
                </a:solidFill>
                <a:latin typeface="Space Mono"/>
                <a:ea typeface="Space Mono"/>
                <a:cs typeface="Space Mono"/>
              </a:rPr>
              <a:t>artefato</a:t>
            </a:r>
          </a:p>
          <a:p xmlns:a="http://schemas.openxmlformats.org/drawingml/2006/main">
            <a:pPr algn="ctr">
              <a:defRPr sz="1125" b="1">
                <a:solidFill>
                  <a:srgbClr val="9C433A"/>
                </a:solidFill>
                <a:latin typeface="Space Mono"/>
                <a:ea typeface="Space Mono"/>
                <a:cs typeface="Space Mono"/>
              </a:defRPr>
            </a:pPr>
            <a:r>
              <a:rPr sz="1125" b="1">
                <a:solidFill>
                  <a:srgbClr val="9C433A"/>
                </a:solidFill>
                <a:latin typeface="Space Mono"/>
                <a:ea typeface="Space Mono"/>
                <a:cs typeface="Space Mono"/>
              </a:rPr>
              <a:t>binário ou dist/</a:t>
            </a:r>
          </a:p>
        </p:txBody>
      </p:sp>
      <p:sp>
        <p:nvSpPr>
          <p:cNvPr id="9" name="runtime-stage">
            <a:extLst xmlns:a="http://schemas.openxmlformats.org/drawingml/2006/main">
              <a:ext uri="{FF2B5EF4-FFF2-40B4-BE49-F238E27FC236}">
                <a16:creationId xmlns:a16="http://schemas.microsoft.com/office/drawing/2014/main" id="{3F494199-39F6-4B9F-8E95-014AE99D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714625"/>
            <a:ext cx="2238375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DDF3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6857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166857"/>
                </a:solidFill>
                <a:latin typeface="Montserrat"/>
                <a:ea typeface="Montserrat"/>
                <a:cs typeface="Montserrat"/>
              </a:rPr>
              <a:t>runtime</a:t>
            </a:r>
          </a:p>
          <a:p xmlns:a="http://schemas.openxmlformats.org/drawingml/2006/main">
            <a:pPr algn="ctr">
              <a:defRPr sz="1500" b="1">
                <a:solidFill>
                  <a:srgbClr val="166857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166857"/>
                </a:solidFill>
                <a:latin typeface="Montserrat"/>
                <a:ea typeface="Montserrat"/>
                <a:cs typeface="Montserrat"/>
              </a:rPr>
              <a:t>processo e arquivos</a:t>
            </a:r>
          </a:p>
          <a:p xmlns:a="http://schemas.openxmlformats.org/drawingml/2006/main">
            <a:pPr algn="ctr">
              <a:defRPr sz="1500" b="1">
                <a:solidFill>
                  <a:srgbClr val="166857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166857"/>
                </a:solidFill>
                <a:latin typeface="Montserrat"/>
                <a:ea typeface="Montserrat"/>
                <a:cs typeface="Montserrat"/>
              </a:rPr>
              <a:t>necessários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924175" y="3514725"/>
            <a:ext cx="504825" cy="95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B3DA6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143500" y="3514725"/>
            <a:ext cx="504825" cy="95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B3DA6"/>
            </a:solidFill>
            <a:prstDash val="solid"/>
            <a:tailEnd type="arrow" w="med" len="med"/>
          </a:ln>
        </p:spPr>
      </p:cxnSp>
      <p:sp>
        <p:nvSpPr>
          <p:cNvPr id="12" name="frontend-service">
            <a:extLst xmlns:a="http://schemas.openxmlformats.org/drawingml/2006/main">
              <a:ext uri="{FF2B5EF4-FFF2-40B4-BE49-F238E27FC236}">
                <a16:creationId xmlns:a16="http://schemas.microsoft.com/office/drawing/2014/main" id="{FD1FF43E-7546-4229-9E95-C44C30F7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0125"/>
            <a:ext cx="18097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CE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B3DA6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5B3DA6"/>
                </a:solidFill>
                <a:latin typeface="Montserrat"/>
                <a:ea typeface="Montserrat"/>
                <a:cs typeface="Montserrat"/>
              </a:rPr>
              <a:t>frontend</a:t>
            </a:r>
          </a:p>
          <a:p xmlns:a="http://schemas.openxmlformats.org/drawingml/2006/main">
            <a:pPr algn="ctr">
              <a:defRPr sz="1425" b="1">
                <a:solidFill>
                  <a:srgbClr val="5B3DA6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5B3DA6"/>
                </a:solidFill>
                <a:latin typeface="Montserrat"/>
                <a:ea typeface="Montserrat"/>
                <a:cs typeface="Montserrat"/>
              </a:rPr>
              <a:t>Nginx :80</a:t>
            </a:r>
          </a:p>
        </p:txBody>
      </p:sp>
      <p:sp>
        <p:nvSpPr>
          <p:cNvPr id="13" name="api-service">
            <a:extLst xmlns:a="http://schemas.openxmlformats.org/drawingml/2006/main">
              <a:ext uri="{FF2B5EF4-FFF2-40B4-BE49-F238E27FC236}">
                <a16:creationId xmlns:a16="http://schemas.microsoft.com/office/drawing/2014/main" id="{13B7DF8D-DE52-4103-AE94-A214529C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810125"/>
            <a:ext cx="18097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DF3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6857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166857"/>
                </a:solidFill>
                <a:latin typeface="Montserrat"/>
                <a:ea typeface="Montserrat"/>
                <a:cs typeface="Montserrat"/>
              </a:rPr>
              <a:t>api</a:t>
            </a:r>
          </a:p>
          <a:p xmlns:a="http://schemas.openxmlformats.org/drawingml/2006/main">
            <a:pPr algn="ctr">
              <a:defRPr sz="1425" b="1">
                <a:solidFill>
                  <a:srgbClr val="166857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166857"/>
                </a:solidFill>
                <a:latin typeface="Montserrat"/>
                <a:ea typeface="Montserrat"/>
                <a:cs typeface="Montserrat"/>
              </a:rPr>
              <a:t>Flask :5000</a:t>
            </a:r>
          </a:p>
        </p:txBody>
      </p:sp>
      <p:cxnSp>
        <p:nvCxnSpPr>
          <p:cNvPr id="30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477250" y="5267325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05AD5"/>
            </a:solidFill>
            <a:prstDash val="solid"/>
            <a:tailEnd type="arrow" w="med" len="med"/>
          </a:ln>
        </p:spPr>
      </p:cxnSp>
      <p:sp>
        <p:nvSpPr>
          <p:cNvPr id="15" name="network-caption">
            <a:extLst xmlns:a="http://schemas.openxmlformats.org/drawingml/2006/main">
              <a:ext uri="{FF2B5EF4-FFF2-40B4-BE49-F238E27FC236}">
                <a16:creationId xmlns:a16="http://schemas.microsoft.com/office/drawing/2014/main" id="{12CACB87-2C3C-413E-9644-75261A87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9436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05AD5"/>
                </a:solidFill>
                <a:latin typeface="Space Mono"/>
                <a:ea typeface="Space Mono"/>
                <a:cs typeface="Space Mono"/>
              </a:defRPr>
            </a:pPr>
            <a:r>
              <a:rPr sz="975" b="1">
                <a:solidFill>
                  <a:srgbClr val="805AD5"/>
                </a:solidFill>
                <a:latin typeface="Space Mono"/>
                <a:ea typeface="Space Mono"/>
                <a:cs typeface="Space Mono"/>
              </a:rPr>
              <a:t>rede Compose</a:t>
            </a:r>
          </a:p>
        </p:txBody>
      </p:sp>
      <p:sp>
        <p:nvSpPr>
          <p:cNvPr id="16" name="build-caption">
            <a:extLst xmlns:a="http://schemas.openxmlformats.org/drawingml/2006/main">
              <a:ext uri="{FF2B5EF4-FFF2-40B4-BE49-F238E27FC236}">
                <a16:creationId xmlns:a16="http://schemas.microsoft.com/office/drawing/2014/main" id="{2FC1759F-DDA6-4393-9FDD-9E49F643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196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373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D6373"/>
                </a:solidFill>
                <a:latin typeface="Montserrat"/>
                <a:ea typeface="Montserrat"/>
                <a:cs typeface="Montserrat"/>
              </a:rPr>
              <a:t>COPY --from copia somente o caminho indicado</a:t>
            </a:r>
          </a:p>
        </p:txBody>
      </p:sp>
    </p:spTree>
    <p:extLst>
      <p:ext uri="{BB962C8B-B14F-4D97-AF65-F5344CB8AC3E}">
        <p14:creationId xmlns:p14="http://schemas.microsoft.com/office/powerpoint/2010/main" val="13934407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4">
            <a:extLst xmlns:a="http://schemas.openxmlformats.org/drawingml/2006/main">
              <a:ext uri="{FF2B5EF4-FFF2-40B4-BE49-F238E27FC236}">
                <a16:creationId xmlns:a16="http://schemas.microsoft.com/office/drawing/2014/main" id="{A90523D6-1947-41C5-BD81-DCA11A59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5AD5"/>
                </a:solidFill>
                <a:latin typeface="Space Mono"/>
                <a:ea typeface="Space Mono"/>
                <a:cs typeface="Space Mono"/>
              </a:defRPr>
            </a:pPr>
            <a:r>
              <a:rPr sz="900" b="1">
                <a:solidFill>
                  <a:srgbClr val="805AD5"/>
                </a:solidFill>
                <a:latin typeface="Space Mono"/>
                <a:ea typeface="Space Mono"/>
                <a:cs typeface="Space Mono"/>
              </a:rPr>
              <a:t>ENCONTRO 04  /  04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26E26BF-2CE8-4C5A-904C-B4C0C457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Demonstração 1: Hello World em C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6906B412-900E-471B-B30E-3D0074B6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73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5D6373"/>
                </a:solidFill>
                <a:latin typeface="Montserrat"/>
                <a:ea typeface="Montserrat"/>
                <a:cs typeface="Montserrat"/>
              </a:rPr>
              <a:t>O compilador aparece no estágio de build e desaparece da imagem final.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1E4C6CE3-9B73-4C2D-8BAA-D3354B71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373"/>
                </a:solidFill>
                <a:latin typeface="Space Mono"/>
                <a:ea typeface="Space Mono"/>
                <a:cs typeface="Space Mono"/>
              </a:defRPr>
            </a:pPr>
            <a:r>
              <a:rPr sz="900" b="0">
                <a:solidFill>
                  <a:srgbClr val="5D6373"/>
                </a:solidFill>
                <a:latin typeface="Space Mono"/>
                <a:ea typeface="Space Mono"/>
                <a:cs typeface="Space Mono"/>
              </a:rPr>
              <a:t>04</a:t>
            </a:r>
          </a:p>
        </p:txBody>
      </p:sp>
      <p:sp>
        <p:nvSpPr>
          <p:cNvPr id="5" name="hello-code">
            <a:extLst xmlns:a="http://schemas.openxmlformats.org/drawingml/2006/main">
              <a:ext uri="{FF2B5EF4-FFF2-40B4-BE49-F238E27FC236}">
                <a16:creationId xmlns:a16="http://schemas.microsoft.com/office/drawing/2014/main" id="{76504199-9388-48C0-B0B0-382A1FE7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60960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6192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FROM alpine:3.20 AS builder</a:t>
            </a:r>
          </a:p>
          <a:p xmlns:a="http://schemas.openxmlformats.org/drawingml/2006/main">
            <a:pPr algn="l">
              <a:def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RUN apk add --no-cache build-base</a:t>
            </a:r>
          </a:p>
          <a:p xmlns:a="http://schemas.openxmlformats.org/drawingml/2006/main">
            <a:pPr algn="l">
              <a:def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WORKDIR /src</a:t>
            </a:r>
          </a:p>
          <a:p xmlns:a="http://schemas.openxmlformats.org/drawingml/2006/main">
            <a:pPr algn="l">
              <a:def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COPY hello.c .</a:t>
            </a:r>
          </a:p>
          <a:p xmlns:a="http://schemas.openxmlformats.org/drawingml/2006/main">
            <a:pPr algn="l">
              <a:def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RUN gcc -static -Os -s -o hello hello.c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FROM scratch AS runtime</a:t>
            </a:r>
          </a:p>
          <a:p xmlns:a="http://schemas.openxmlformats.org/drawingml/2006/main">
            <a:pPr algn="l">
              <a:def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COPY --from=builder /src/hello /hello</a:t>
            </a:r>
          </a:p>
          <a:p xmlns:a="http://schemas.openxmlformats.org/drawingml/2006/main">
            <a:pPr algn="l">
              <a:def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ENTRYPOINT ["/hello"]</a:t>
            </a:r>
          </a:p>
        </p:txBody>
      </p:sp>
      <p:sp>
        <p:nvSpPr>
          <p:cNvPr id="6" name="hello-side-title">
            <a:extLst xmlns:a="http://schemas.openxmlformats.org/drawingml/2006/main">
              <a:ext uri="{FF2B5EF4-FFF2-40B4-BE49-F238E27FC236}">
                <a16:creationId xmlns:a16="http://schemas.microsoft.com/office/drawing/2014/main" id="{9CCBDF0F-B97B-4584-9562-79D733B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71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3DA6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5B3DA6"/>
                </a:solidFill>
                <a:latin typeface="Montserrat"/>
                <a:ea typeface="Montserrat"/>
                <a:cs typeface="Montserrat"/>
              </a:rPr>
              <a:t>O que fica em cada estágio</a:t>
            </a:r>
          </a:p>
        </p:txBody>
      </p:sp>
      <p:sp>
        <p:nvSpPr>
          <p:cNvPr id="7" name="hello-builder">
            <a:extLst xmlns:a="http://schemas.openxmlformats.org/drawingml/2006/main">
              <a:ext uri="{FF2B5EF4-FFF2-40B4-BE49-F238E27FC236}">
                <a16:creationId xmlns:a16="http://schemas.microsoft.com/office/drawing/2014/main" id="{D0E1BC37-3728-4B69-AB3B-59E855D2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8605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CE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3DA6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B3DA6"/>
                </a:solidFill>
                <a:latin typeface="Montserrat"/>
                <a:ea typeface="Montserrat"/>
                <a:cs typeface="Montserrat"/>
              </a:rPr>
              <a:t>builder</a:t>
            </a:r>
          </a:p>
          <a:p xmlns:a="http://schemas.openxmlformats.org/drawingml/2006/main">
            <a:pPr algn="l">
              <a:defRPr sz="1350" b="1">
                <a:solidFill>
                  <a:srgbClr val="5B3DA6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B3DA6"/>
                </a:solidFill>
                <a:latin typeface="Montserrat"/>
                <a:ea typeface="Montserrat"/>
                <a:cs typeface="Montserrat"/>
              </a:rPr>
              <a:t>Alpine + gcc + headers + fonte C</a:t>
            </a:r>
          </a:p>
        </p:txBody>
      </p:sp>
      <p:sp>
        <p:nvSpPr>
          <p:cNvPr id="8" name="hello-runtime">
            <a:extLst xmlns:a="http://schemas.openxmlformats.org/drawingml/2006/main">
              <a:ext uri="{FF2B5EF4-FFF2-40B4-BE49-F238E27FC236}">
                <a16:creationId xmlns:a16="http://schemas.microsoft.com/office/drawing/2014/main" id="{D183DD64-B962-47E6-B2F5-5C25EC1F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0525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DF3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685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166857"/>
                </a:solidFill>
                <a:latin typeface="Montserrat"/>
                <a:ea typeface="Montserrat"/>
                <a:cs typeface="Montserrat"/>
              </a:rPr>
              <a:t>runtime</a:t>
            </a:r>
          </a:p>
          <a:p xmlns:a="http://schemas.openxmlformats.org/drawingml/2006/main">
            <a:pPr algn="l">
              <a:defRPr sz="1350" b="1">
                <a:solidFill>
                  <a:srgbClr val="16685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166857"/>
                </a:solidFill>
                <a:latin typeface="Montserrat"/>
                <a:ea typeface="Montserrat"/>
                <a:cs typeface="Montserrat"/>
              </a:rPr>
              <a:t>Somente /hello dentro de scratch</a:t>
            </a:r>
          </a:p>
        </p:txBody>
      </p:sp>
      <p:sp>
        <p:nvSpPr>
          <p:cNvPr id="9" name="hello-prompt">
            <a:extLst xmlns:a="http://schemas.openxmlformats.org/drawingml/2006/main">
              <a:ext uri="{FF2B5EF4-FFF2-40B4-BE49-F238E27FC236}">
                <a16:creationId xmlns:a16="http://schemas.microsoft.com/office/drawing/2014/main" id="{39CF500D-2EE2-4337-93CB-32C76606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Pergunta para a turma: por que a imagem final não precisa de gcc?</a:t>
            </a:r>
          </a:p>
        </p:txBody>
      </p:sp>
      <p:sp>
        <p:nvSpPr>
          <p:cNvPr id="10" name="divider-l7xqit">
            <a:extLst xmlns:a="http://schemas.openxmlformats.org/drawingml/2006/main">
              <a:ext uri="{FF2B5EF4-FFF2-40B4-BE49-F238E27FC236}">
                <a16:creationId xmlns:a16="http://schemas.microsoft.com/office/drawing/2014/main" id="{423A2C34-7AC5-4972-A69E-6A351066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DD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ello-command">
            <a:extLst xmlns:a="http://schemas.openxmlformats.org/drawingml/2006/main">
              <a:ext uri="{FF2B5EF4-FFF2-40B4-BE49-F238E27FC236}">
                <a16:creationId xmlns:a16="http://schemas.microsoft.com/office/drawing/2014/main" id="{514651ED-1FC1-4110-8E0C-D1A6043B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373"/>
                </a:solidFill>
                <a:latin typeface="Space Mono"/>
                <a:ea typeface="Space Mono"/>
                <a:cs typeface="Space Mono"/>
              </a:defRPr>
            </a:pPr>
            <a:r>
              <a:rPr sz="900" b="0">
                <a:solidFill>
                  <a:srgbClr val="5D6373"/>
                </a:solidFill>
                <a:latin typeface="Space Mono"/>
                <a:ea typeface="Space Mono"/>
                <a:cs typeface="Space Mono"/>
              </a:rPr>
              <a:t>docker build -t hello-c-multistage:1.0 .     docker run --rm hello-c-multistage:1.0</a:t>
            </a:r>
          </a:p>
        </p:txBody>
      </p:sp>
    </p:spTree>
    <p:extLst>
      <p:ext uri="{BB962C8B-B14F-4D97-AF65-F5344CB8AC3E}">
        <p14:creationId xmlns:p14="http://schemas.microsoft.com/office/powerpoint/2010/main" val="20107681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5">
            <a:extLst xmlns:a="http://schemas.openxmlformats.org/drawingml/2006/main">
              <a:ext uri="{FF2B5EF4-FFF2-40B4-BE49-F238E27FC236}">
                <a16:creationId xmlns:a16="http://schemas.microsoft.com/office/drawing/2014/main" id="{4B6336BB-5706-42CF-A9EF-BA61E6E4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5AD5"/>
                </a:solidFill>
                <a:latin typeface="Space Mono"/>
                <a:ea typeface="Space Mono"/>
                <a:cs typeface="Space Mono"/>
              </a:defRPr>
            </a:pPr>
            <a:r>
              <a:rPr sz="900" b="1">
                <a:solidFill>
                  <a:srgbClr val="805AD5"/>
                </a:solidFill>
                <a:latin typeface="Space Mono"/>
                <a:ea typeface="Space Mono"/>
                <a:cs typeface="Space Mono"/>
              </a:rPr>
              <a:t>ENCONTRO 04  /  05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1ABF7FA-B19D-453F-8B6F-686BD079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A fronteira entre os estágios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6D0CA53D-038A-4A8D-89C5-E0E0565E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73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5D6373"/>
                </a:solidFill>
                <a:latin typeface="Montserrat"/>
                <a:ea typeface="Montserrat"/>
                <a:cs typeface="Montserrat"/>
              </a:rPr>
              <a:t>O estágio final recebe o artefato escolhido. Ele não herda automaticamente a imagem anterior.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D01F612A-1E7B-4CB7-AA7D-96FF42A7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373"/>
                </a:solidFill>
                <a:latin typeface="Space Mono"/>
                <a:ea typeface="Space Mono"/>
                <a:cs typeface="Space Mono"/>
              </a:defRPr>
            </a:pPr>
            <a:r>
              <a:rPr sz="900" b="0">
                <a:solidFill>
                  <a:srgbClr val="5D6373"/>
                </a:solidFill>
                <a:latin typeface="Space Mono"/>
                <a:ea typeface="Space Mono"/>
                <a:cs typeface="Space Mono"/>
              </a:rPr>
              <a:t>05</a:t>
            </a:r>
          </a:p>
        </p:txBody>
      </p:sp>
      <p:sp>
        <p:nvSpPr>
          <p:cNvPr id="5" name="source-stage">
            <a:extLst xmlns:a="http://schemas.openxmlformats.org/drawingml/2006/main">
              <a:ext uri="{FF2B5EF4-FFF2-40B4-BE49-F238E27FC236}">
                <a16:creationId xmlns:a16="http://schemas.microsoft.com/office/drawing/2014/main" id="{28C5A8E1-CFBC-4227-A866-8C3FFD39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2476500" cy="23812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ECE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B3DA6"/>
                </a:solidFill>
                <a:latin typeface="Space Mono"/>
                <a:ea typeface="Space Mono"/>
                <a:cs typeface="Space Mono"/>
              </a:defRPr>
            </a:pPr>
            <a:r>
              <a:rPr sz="1350" b="1">
                <a:solidFill>
                  <a:srgbClr val="5B3DA6"/>
                </a:solidFill>
                <a:latin typeface="Space Mono"/>
                <a:ea typeface="Space Mono"/>
                <a:cs typeface="Space Mono"/>
              </a:rPr>
              <a:t>/src</a:t>
            </a:r>
          </a:p>
          <a:p xmlns:a="http://schemas.openxmlformats.org/drawingml/2006/main">
            <a:pPr algn="ctr">
              <a:defRPr sz="1350" b="1">
                <a:solidFill>
                  <a:srgbClr val="5B3DA6"/>
                </a:solidFill>
                <a:latin typeface="Space Mono"/>
                <a:ea typeface="Space Mono"/>
                <a:cs typeface="Space Mono"/>
              </a:defRPr>
            </a:pPr>
            <a:r>
              <a:rPr sz="1350" b="1">
                <a:solidFill>
                  <a:srgbClr val="5B3DA6"/>
                </a:solidFill>
                <a:latin typeface="Space Mono"/>
                <a:ea typeface="Space Mono"/>
                <a:cs typeface="Space Mono"/>
              </a:rPr>
              <a:t>hello.c</a:t>
            </a:r>
          </a:p>
          <a:p xmlns:a="http://schemas.openxmlformats.org/drawingml/2006/main">
            <a:pPr algn="ctr">
              <a:defRPr sz="1350" b="1">
                <a:solidFill>
                  <a:srgbClr val="5B3DA6"/>
                </a:solidFill>
                <a:latin typeface="Space Mono"/>
                <a:ea typeface="Space Mono"/>
                <a:cs typeface="Space Mono"/>
              </a:defRPr>
            </a:pPr>
            <a:r>
              <a:rPr sz="1350" b="1">
                <a:solidFill>
                  <a:srgbClr val="5B3DA6"/>
                </a:solidFill>
                <a:latin typeface="Space Mono"/>
                <a:ea typeface="Space Mono"/>
                <a:cs typeface="Space Mono"/>
              </a:rPr>
              <a:t>gcc</a:t>
            </a:r>
          </a:p>
          <a:p xmlns:a="http://schemas.openxmlformats.org/drawingml/2006/main">
            <a:pPr algn="ctr">
              <a:defRPr sz="1350" b="1">
                <a:solidFill>
                  <a:srgbClr val="5B3DA6"/>
                </a:solidFill>
                <a:latin typeface="Space Mono"/>
                <a:ea typeface="Space Mono"/>
                <a:cs typeface="Space Mono"/>
              </a:defRPr>
            </a:pPr>
            <a:r>
              <a:rPr sz="1350" b="1">
                <a:solidFill>
                  <a:srgbClr val="5B3DA6"/>
                </a:solidFill>
                <a:latin typeface="Space Mono"/>
                <a:ea typeface="Space Mono"/>
                <a:cs typeface="Space Mono"/>
              </a:rPr>
              <a:t>headers</a:t>
            </a:r>
          </a:p>
          <a:p xmlns:a="http://schemas.openxmlformats.org/drawingml/2006/main">
            <a:pPr algn="ctr">
              <a:defRPr sz="1350" b="1">
                <a:solidFill>
                  <a:srgbClr val="5B3DA6"/>
                </a:solidFill>
                <a:latin typeface="Space Mono"/>
                <a:ea typeface="Space Mono"/>
                <a:cs typeface="Space Mono"/>
              </a:defRPr>
            </a:pPr>
            <a:r>
              <a:rPr sz="1350" b="1">
                <a:solidFill>
                  <a:srgbClr val="5B3DA6"/>
                </a:solidFill>
                <a:latin typeface="Space Mono"/>
                <a:ea typeface="Space Mono"/>
                <a:cs typeface="Space Mono"/>
              </a:rPr>
              <a:t>hello</a:t>
            </a:r>
          </a:p>
        </p:txBody>
      </p:sp>
      <p:sp>
        <p:nvSpPr>
          <p:cNvPr id="6" name="copy-step">
            <a:extLst xmlns:a="http://schemas.openxmlformats.org/drawingml/2006/main">
              <a:ext uri="{FF2B5EF4-FFF2-40B4-BE49-F238E27FC236}">
                <a16:creationId xmlns:a16="http://schemas.microsoft.com/office/drawing/2014/main" id="{B59FBABC-878F-4DE6-87C4-EF9EC7CE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90875"/>
            <a:ext cx="2667000" cy="857250"/>
          </a:xfrm>
          <a:prstGeom xmlns:a="http://schemas.openxmlformats.org/drawingml/2006/main" prst="roundRect">
            <a:avLst>
              <a:gd name="adj" fmla="val 24444"/>
            </a:avLst>
          </a:prstGeom>
          <a:solidFill xmlns:a="http://schemas.openxmlformats.org/drawingml/2006/main">
            <a:srgbClr val="F7E6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C433A"/>
                </a:solidFill>
                <a:latin typeface="Space Mono"/>
                <a:ea typeface="Space Mono"/>
                <a:cs typeface="Space Mono"/>
              </a:defRPr>
            </a:pPr>
            <a:r>
              <a:rPr sz="1125" b="1">
                <a:solidFill>
                  <a:srgbClr val="9C433A"/>
                </a:solidFill>
                <a:latin typeface="Space Mono"/>
                <a:ea typeface="Space Mono"/>
                <a:cs typeface="Space Mono"/>
              </a:rPr>
              <a:t>COPY --from=builder</a:t>
            </a:r>
          </a:p>
          <a:p xmlns:a="http://schemas.openxmlformats.org/drawingml/2006/main">
            <a:pPr algn="ctr">
              <a:defRPr sz="1125" b="1">
                <a:solidFill>
                  <a:srgbClr val="9C433A"/>
                </a:solidFill>
                <a:latin typeface="Space Mono"/>
                <a:ea typeface="Space Mono"/>
                <a:cs typeface="Space Mono"/>
              </a:defRPr>
            </a:pPr>
            <a:r>
              <a:rPr sz="1125" b="1">
                <a:solidFill>
                  <a:srgbClr val="9C433A"/>
                </a:solidFill>
                <a:latin typeface="Space Mono"/>
                <a:ea typeface="Space Mono"/>
                <a:cs typeface="Space Mono"/>
              </a:rPr>
              <a:t>/src/hello  /hello</a:t>
            </a:r>
          </a:p>
        </p:txBody>
      </p:sp>
      <p:sp>
        <p:nvSpPr>
          <p:cNvPr id="7" name="target-stage">
            <a:extLst xmlns:a="http://schemas.openxmlformats.org/drawingml/2006/main">
              <a:ext uri="{FF2B5EF4-FFF2-40B4-BE49-F238E27FC236}">
                <a16:creationId xmlns:a16="http://schemas.microsoft.com/office/drawing/2014/main" id="{D0F8BD0D-FD4D-4588-9B66-58F2CD27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95625"/>
            <a:ext cx="2238375" cy="1047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F3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6857"/>
                </a:solidFill>
                <a:latin typeface="Space Mono"/>
                <a:ea typeface="Space Mono"/>
                <a:cs typeface="Space Mono"/>
              </a:defRPr>
            </a:pPr>
            <a:r>
              <a:rPr sz="1800" b="1">
                <a:solidFill>
                  <a:srgbClr val="166857"/>
                </a:solidFill>
                <a:latin typeface="Space Mono"/>
                <a:ea typeface="Space Mono"/>
                <a:cs typeface="Space Mono"/>
              </a:rPr>
              <a:t>/hello</a:t>
            </a:r>
          </a:p>
        </p:txBody>
      </p:sp>
      <p:cxnSp>
        <p:nvCxnSpPr>
          <p:cNvPr id="1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19500" y="3619500"/>
            <a:ext cx="11430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B3DA6"/>
            </a:solidFill>
            <a:prstDash val="solid"/>
            <a:tailEnd type="arrow" w="med" len="med"/>
          </a:ln>
        </p:spPr>
      </p:cxn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429500" y="361950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B3DA6"/>
            </a:solidFill>
            <a:prstDash val="solid"/>
            <a:tailEnd type="arrow" w="med" len="med"/>
          </a:ln>
        </p:spPr>
      </p:cxnSp>
      <p:sp>
        <p:nvSpPr>
          <p:cNvPr id="10" name="boundary-note">
            <a:extLst xmlns:a="http://schemas.openxmlformats.org/drawingml/2006/main">
              <a:ext uri="{FF2B5EF4-FFF2-40B4-BE49-F238E27FC236}">
                <a16:creationId xmlns:a16="http://schemas.microsoft.com/office/drawing/2014/main" id="{A4A6327B-F974-4BFD-ABD8-FE12A8D1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38750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O caminho copiado define o conteúdo da imagem final.</a:t>
            </a:r>
          </a:p>
        </p:txBody>
      </p:sp>
      <p:sp>
        <p:nvSpPr>
          <p:cNvPr id="11" name="boundary-warning">
            <a:extLst xmlns:a="http://schemas.openxmlformats.org/drawingml/2006/main">
              <a:ext uri="{FF2B5EF4-FFF2-40B4-BE49-F238E27FC236}">
                <a16:creationId xmlns:a16="http://schemas.microsoft.com/office/drawing/2014/main" id="{0D5CE0FF-2B78-459E-BABF-4055F8B5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8642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373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D6373"/>
                </a:solidFill>
                <a:latin typeface="Montserrat"/>
                <a:ea typeface="Montserrat"/>
                <a:cs typeface="Montserrat"/>
              </a:rPr>
              <a:t>Compilador, fonte e arquivos temporários ficam no estágio de build, salvo se você os copiar explicitamente.</a:t>
            </a:r>
          </a:p>
        </p:txBody>
      </p:sp>
    </p:spTree>
    <p:extLst>
      <p:ext uri="{BB962C8B-B14F-4D97-AF65-F5344CB8AC3E}">
        <p14:creationId xmlns:p14="http://schemas.microsoft.com/office/powerpoint/2010/main" val="12978920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6">
            <a:extLst xmlns:a="http://schemas.openxmlformats.org/drawingml/2006/main">
              <a:ext uri="{FF2B5EF4-FFF2-40B4-BE49-F238E27FC236}">
                <a16:creationId xmlns:a16="http://schemas.microsoft.com/office/drawing/2014/main" id="{C364B947-0044-4FFB-8E97-FD7FEA29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5AD5"/>
                </a:solidFill>
                <a:latin typeface="Space Mono"/>
                <a:ea typeface="Space Mono"/>
                <a:cs typeface="Space Mono"/>
              </a:defRPr>
            </a:pPr>
            <a:r>
              <a:rPr sz="900" b="1">
                <a:solidFill>
                  <a:srgbClr val="805AD5"/>
                </a:solidFill>
                <a:latin typeface="Space Mono"/>
                <a:ea typeface="Space Mono"/>
                <a:cs typeface="Space Mono"/>
              </a:rPr>
              <a:t>ENCONTRO 04  /  06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72EE78FF-A3F8-4DE4-874D-FEB76764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Demonstração 2: calculadora web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E0EC8E5D-D9C5-479F-A8E8-3AEC9D38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73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5D6373"/>
                </a:solidFill>
                <a:latin typeface="Montserrat"/>
                <a:ea typeface="Montserrat"/>
                <a:cs typeface="Montserrat"/>
              </a:rPr>
              <a:t>React no navegador, Nginx no frontend e Flask na API.</a:t>
            </a:r>
          </a:p>
        </p:txBody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3D525A3B-21C2-4B28-8F66-26A17717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373"/>
                </a:solidFill>
                <a:latin typeface="Space Mono"/>
                <a:ea typeface="Space Mono"/>
                <a:cs typeface="Space Mono"/>
              </a:defRPr>
            </a:pPr>
            <a:r>
              <a:rPr sz="900" b="0">
                <a:solidFill>
                  <a:srgbClr val="5D6373"/>
                </a:solidFill>
                <a:latin typeface="Space Mono"/>
                <a:ea typeface="Space Mono"/>
                <a:cs typeface="Space Mono"/>
              </a:rPr>
              <a:t>06</a:t>
            </a:r>
          </a:p>
        </p:txBody>
      </p:sp>
      <p:sp>
        <p:nvSpPr>
          <p:cNvPr id="5" name="browser">
            <a:extLst xmlns:a="http://schemas.openxmlformats.org/drawingml/2006/main">
              <a:ext uri="{FF2B5EF4-FFF2-40B4-BE49-F238E27FC236}">
                <a16:creationId xmlns:a16="http://schemas.microsoft.com/office/drawing/2014/main" id="{F73ED742-B6E1-4899-9085-2EA5A59F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20002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DCE9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4E93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244E93"/>
                </a:solidFill>
                <a:latin typeface="Montserrat"/>
                <a:ea typeface="Montserrat"/>
                <a:cs typeface="Montserrat"/>
              </a:rPr>
              <a:t>navegador</a:t>
            </a:r>
          </a:p>
          <a:p xmlns:a="http://schemas.openxmlformats.org/drawingml/2006/main">
            <a:pPr algn="ctr">
              <a:defRPr sz="1350" b="1">
                <a:solidFill>
                  <a:srgbClr val="244E93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244E93"/>
                </a:solidFill>
                <a:latin typeface="Montserrat"/>
                <a:ea typeface="Montserrat"/>
                <a:cs typeface="Montserrat"/>
              </a:rPr>
              <a:t>localhost:8080</a:t>
            </a:r>
          </a:p>
        </p:txBody>
      </p:sp>
      <p:sp>
        <p:nvSpPr>
          <p:cNvPr id="6" name="front">
            <a:extLst xmlns:a="http://schemas.openxmlformats.org/drawingml/2006/main">
              <a:ext uri="{FF2B5EF4-FFF2-40B4-BE49-F238E27FC236}">
                <a16:creationId xmlns:a16="http://schemas.microsoft.com/office/drawing/2014/main" id="{A6F76CF1-D378-4CE7-BAE7-CF650003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002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CE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B3DA6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B3DA6"/>
                </a:solidFill>
                <a:latin typeface="Montserrat"/>
                <a:ea typeface="Montserrat"/>
                <a:cs typeface="Montserrat"/>
              </a:rPr>
              <a:t>frontend</a:t>
            </a:r>
          </a:p>
          <a:p xmlns:a="http://schemas.openxmlformats.org/drawingml/2006/main">
            <a:pPr algn="ctr">
              <a:defRPr sz="1350" b="1">
                <a:solidFill>
                  <a:srgbClr val="5B3DA6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B3DA6"/>
                </a:solidFill>
                <a:latin typeface="Montserrat"/>
                <a:ea typeface="Montserrat"/>
                <a:cs typeface="Montserrat"/>
              </a:rPr>
              <a:t>Nginx :80</a:t>
            </a:r>
          </a:p>
        </p:txBody>
      </p:sp>
      <p:sp>
        <p:nvSpPr>
          <p:cNvPr id="7" name="api">
            <a:extLst xmlns:a="http://schemas.openxmlformats.org/drawingml/2006/main">
              <a:ext uri="{FF2B5EF4-FFF2-40B4-BE49-F238E27FC236}">
                <a16:creationId xmlns:a16="http://schemas.microsoft.com/office/drawing/2014/main" id="{8567378C-8F39-425F-82DA-D8AB3096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52750"/>
            <a:ext cx="20002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DDF3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685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166857"/>
                </a:solidFill>
                <a:latin typeface="Montserrat"/>
                <a:ea typeface="Montserrat"/>
                <a:cs typeface="Montserrat"/>
              </a:rPr>
              <a:t>api</a:t>
            </a:r>
          </a:p>
          <a:p xmlns:a="http://schemas.openxmlformats.org/drawingml/2006/main">
            <a:pPr algn="ctr">
              <a:defRPr sz="1350" b="1">
                <a:solidFill>
                  <a:srgbClr val="16685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166857"/>
                </a:solidFill>
                <a:latin typeface="Montserrat"/>
                <a:ea typeface="Montserrat"/>
                <a:cs typeface="Montserrat"/>
              </a:rPr>
              <a:t>Flask :5000</a:t>
            </a:r>
          </a:p>
        </p:txBody>
      </p: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43200" y="3448050"/>
            <a:ext cx="1352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05AD5"/>
            </a:solidFill>
            <a:prstDash val="solid"/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096000" y="34480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05AD5"/>
            </a:solidFill>
            <a:prstDash val="solid"/>
            <a:tailEnd type="arrow" w="med" len="med"/>
          </a:ln>
        </p:spPr>
      </p:cxnSp>
      <p:sp>
        <p:nvSpPr>
          <p:cNvPr id="10" name="public-path">
            <a:extLst xmlns:a="http://schemas.openxmlformats.org/drawingml/2006/main">
              <a:ext uri="{FF2B5EF4-FFF2-40B4-BE49-F238E27FC236}">
                <a16:creationId xmlns:a16="http://schemas.microsoft.com/office/drawing/2014/main" id="{E0079974-694E-4618-9ACA-FEC80A80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670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4E93"/>
                </a:solidFill>
                <a:latin typeface="Space Mono"/>
                <a:ea typeface="Space Mono"/>
                <a:cs typeface="Space Mono"/>
              </a:defRPr>
            </a:pPr>
            <a:r>
              <a:rPr sz="975" b="1">
                <a:solidFill>
                  <a:srgbClr val="244E93"/>
                </a:solidFill>
                <a:latin typeface="Space Mono"/>
                <a:ea typeface="Space Mono"/>
                <a:cs typeface="Space Mono"/>
              </a:rPr>
              <a:t>GET /</a:t>
            </a:r>
          </a:p>
        </p:txBody>
      </p:sp>
      <p:sp>
        <p:nvSpPr>
          <p:cNvPr id="11" name="internal-path">
            <a:extLst xmlns:a="http://schemas.openxmlformats.org/drawingml/2006/main">
              <a:ext uri="{FF2B5EF4-FFF2-40B4-BE49-F238E27FC236}">
                <a16:creationId xmlns:a16="http://schemas.microsoft.com/office/drawing/2014/main" id="{415F8473-6F1B-4325-827F-335597F7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667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3DA6"/>
                </a:solidFill>
                <a:latin typeface="Space Mono"/>
                <a:ea typeface="Space Mono"/>
                <a:cs typeface="Space Mono"/>
              </a:defRPr>
            </a:pPr>
            <a:r>
              <a:rPr sz="975" b="1">
                <a:solidFill>
                  <a:srgbClr val="5B3DA6"/>
                </a:solidFill>
                <a:latin typeface="Space Mono"/>
                <a:ea typeface="Space Mono"/>
                <a:cs typeface="Space Mono"/>
              </a:rPr>
              <a:t>POST /api/calcular</a:t>
            </a:r>
          </a:p>
        </p:txBody>
      </p:sp>
      <p:sp>
        <p:nvSpPr>
          <p:cNvPr id="12" name="network-zone">
            <a:extLst xmlns:a="http://schemas.openxmlformats.org/drawingml/2006/main">
              <a:ext uri="{FF2B5EF4-FFF2-40B4-BE49-F238E27FC236}">
                <a16:creationId xmlns:a16="http://schemas.microsoft.com/office/drawing/2014/main" id="{359F5A70-9453-4467-BF94-CB585313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28875"/>
            <a:ext cx="6286500" cy="2143125"/>
          </a:xfrm>
          <a:prstGeom xmlns:a="http://schemas.openxmlformats.org/drawingml/2006/main" prst="roundRect">
            <a:avLst>
              <a:gd name="adj" fmla="val 977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805AD5"/>
            </a:solidFill>
            <a:prstDash val="solid"/>
          </a:ln>
        </p:spPr>
      </p:sp>
      <p:sp>
        <p:nvSpPr>
          <p:cNvPr id="13" name="network-zone-label">
            <a:extLst xmlns:a="http://schemas.openxmlformats.org/drawingml/2006/main">
              <a:ext uri="{FF2B5EF4-FFF2-40B4-BE49-F238E27FC236}">
                <a16:creationId xmlns:a16="http://schemas.microsoft.com/office/drawing/2014/main" id="{B6130934-CDD2-4AA4-BF2A-5243846A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67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05AD5"/>
                </a:solidFill>
                <a:latin typeface="Space Mono"/>
                <a:ea typeface="Space Mono"/>
                <a:cs typeface="Space Mono"/>
              </a:defRPr>
            </a:pPr>
            <a:r>
              <a:rPr sz="975" b="1">
                <a:solidFill>
                  <a:srgbClr val="805AD5"/>
                </a:solidFill>
                <a:latin typeface="Space Mono"/>
                <a:ea typeface="Space Mono"/>
                <a:cs typeface="Space Mono"/>
              </a:rPr>
              <a:t>calculadora-net</a:t>
            </a:r>
          </a:p>
        </p:txBody>
      </p:sp>
      <p:sp>
        <p:nvSpPr>
          <p:cNvPr id="14" name="calculate-flow">
            <a:extLst xmlns:a="http://schemas.openxmlformats.org/drawingml/2006/main">
              <a:ext uri="{FF2B5EF4-FFF2-40B4-BE49-F238E27FC236}">
                <a16:creationId xmlns:a16="http://schemas.microsoft.com/office/drawing/2014/main" id="{0C81442A-D33A-48BB-A221-C8179F71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483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O Nginx encaminha /api/calcular para http://api:5000/calcular dentro da rede do Compose.</a:t>
            </a:r>
          </a:p>
        </p:txBody>
      </p:sp>
    </p:spTree>
    <p:extLst>
      <p:ext uri="{BB962C8B-B14F-4D97-AF65-F5344CB8AC3E}">
        <p14:creationId xmlns:p14="http://schemas.microsoft.com/office/powerpoint/2010/main" val="17562579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7">
            <a:extLst xmlns:a="http://schemas.openxmlformats.org/drawingml/2006/main">
              <a:ext uri="{FF2B5EF4-FFF2-40B4-BE49-F238E27FC236}">
                <a16:creationId xmlns:a16="http://schemas.microsoft.com/office/drawing/2014/main" id="{CCACB63C-9FC2-4FB6-AE47-8420991A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5AD5"/>
                </a:solidFill>
                <a:latin typeface="Space Mono"/>
                <a:ea typeface="Space Mono"/>
                <a:cs typeface="Space Mono"/>
              </a:defRPr>
            </a:pPr>
            <a:r>
              <a:rPr sz="900" b="1">
                <a:solidFill>
                  <a:srgbClr val="805AD5"/>
                </a:solidFill>
                <a:latin typeface="Space Mono"/>
                <a:ea typeface="Space Mono"/>
                <a:cs typeface="Space Mono"/>
              </a:rPr>
              <a:t>ENCONTRO 04  /  07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1C532FE7-1FE1-48A4-8C50-DB03CDA2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Frontend React: Node só participa do build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920149FC-4DB1-4148-BA81-7C53EEBF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73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5D6373"/>
                </a:solidFill>
                <a:latin typeface="Montserrat"/>
                <a:ea typeface="Montserrat"/>
                <a:cs typeface="Montserrat"/>
              </a:rPr>
              <a:t>O Nginx recebe arquivos estáticos. Ele não precisa de node_modules ou do compilador do Vite.</a:t>
            </a:r>
          </a:p>
        </p:txBody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49200FE5-77F4-4BD8-B46F-2E34A194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373"/>
                </a:solidFill>
                <a:latin typeface="Space Mono"/>
                <a:ea typeface="Space Mono"/>
                <a:cs typeface="Space Mono"/>
              </a:defRPr>
            </a:pPr>
            <a:r>
              <a:rPr sz="900" b="0">
                <a:solidFill>
                  <a:srgbClr val="5D6373"/>
                </a:solidFill>
                <a:latin typeface="Space Mono"/>
                <a:ea typeface="Space Mono"/>
                <a:cs typeface="Space Mono"/>
              </a:rPr>
              <a:t>07</a:t>
            </a:r>
          </a:p>
        </p:txBody>
      </p:sp>
      <p:sp>
        <p:nvSpPr>
          <p:cNvPr id="5" name="frontend-code">
            <a:extLst xmlns:a="http://schemas.openxmlformats.org/drawingml/2006/main">
              <a:ext uri="{FF2B5EF4-FFF2-40B4-BE49-F238E27FC236}">
                <a16:creationId xmlns:a16="http://schemas.microsoft.com/office/drawing/2014/main" id="{CD1749D3-E0FF-46F1-9D7E-D3A09AE7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238875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6192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FROM node:22-alpine AS build</a:t>
            </a:r>
          </a:p>
          <a:p xmlns:a="http://schemas.openxmlformats.org/drawingml/2006/main">
            <a:pPr algn="l">
              <a:def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WORKDIR /app</a:t>
            </a:r>
          </a:p>
          <a:p xmlns:a="http://schemas.openxmlformats.org/drawingml/2006/main">
            <a:pPr algn="l">
              <a:def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COPY package*.json ./</a:t>
            </a:r>
          </a:p>
          <a:p xmlns:a="http://schemas.openxmlformats.org/drawingml/2006/main">
            <a:pPr algn="l">
              <a:def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RUN npm install</a:t>
            </a:r>
          </a:p>
          <a:p xmlns:a="http://schemas.openxmlformats.org/drawingml/2006/main">
            <a:pPr algn="l">
              <a:def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COPY . .</a:t>
            </a:r>
          </a:p>
          <a:p xmlns:a="http://schemas.openxmlformats.org/drawingml/2006/main">
            <a:pPr algn="l">
              <a:def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RUN npm run 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FROM nginx:1.27-alpine AS runtime</a:t>
            </a:r>
          </a:p>
          <a:p xmlns:a="http://schemas.openxmlformats.org/drawingml/2006/main">
            <a:pPr algn="l">
              <a:def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COPY nginx.conf /etc/nginx/conf.d/default.conf</a:t>
            </a:r>
          </a:p>
          <a:p xmlns:a="http://schemas.openxmlformats.org/drawingml/2006/main">
            <a:pPr algn="l">
              <a:def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125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COPY --from=build /app/dist /usr/share/nginx/html</a:t>
            </a:r>
          </a:p>
        </p:txBody>
      </p:sp>
      <p:sp>
        <p:nvSpPr>
          <p:cNvPr id="6" name="frontend-build">
            <a:extLst xmlns:a="http://schemas.openxmlformats.org/drawingml/2006/main">
              <a:ext uri="{FF2B5EF4-FFF2-40B4-BE49-F238E27FC236}">
                <a16:creationId xmlns:a16="http://schemas.microsoft.com/office/drawing/2014/main" id="{E62B4120-4E65-48C9-B806-BE507D35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09800"/>
            <a:ext cx="171450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CE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3DA6"/>
                </a:solidFill>
                <a:latin typeface="Space Mono"/>
                <a:ea typeface="Space Mono"/>
                <a:cs typeface="Space Mono"/>
              </a:defRPr>
            </a:pPr>
            <a:r>
              <a:rPr sz="1200" b="1">
                <a:solidFill>
                  <a:srgbClr val="5B3DA6"/>
                </a:solidFill>
                <a:latin typeface="Space Mono"/>
                <a:ea typeface="Space Mono"/>
                <a:cs typeface="Space Mono"/>
              </a:rPr>
              <a:t>build</a:t>
            </a:r>
          </a:p>
          <a:p xmlns:a="http://schemas.openxmlformats.org/drawingml/2006/main">
            <a:pPr algn="ctr">
              <a:defRPr sz="1200" b="1">
                <a:solidFill>
                  <a:srgbClr val="5B3DA6"/>
                </a:solidFill>
                <a:latin typeface="Space Mono"/>
                <a:ea typeface="Space Mono"/>
                <a:cs typeface="Space Mono"/>
              </a:defRPr>
            </a:pPr>
            <a:r>
              <a:rPr sz="1200" b="1">
                <a:solidFill>
                  <a:srgbClr val="5B3DA6"/>
                </a:solidFill>
                <a:latin typeface="Space Mono"/>
                <a:ea typeface="Space Mono"/>
                <a:cs typeface="Space Mono"/>
              </a:rPr>
              <a:t>Node.js</a:t>
            </a:r>
          </a:p>
          <a:p xmlns:a="http://schemas.openxmlformats.org/drawingml/2006/main">
            <a:pPr algn="ctr">
              <a:defRPr sz="1200" b="1">
                <a:solidFill>
                  <a:srgbClr val="5B3DA6"/>
                </a:solidFill>
                <a:latin typeface="Space Mono"/>
                <a:ea typeface="Space Mono"/>
                <a:cs typeface="Space Mono"/>
              </a:defRPr>
            </a:pPr>
            <a:r>
              <a:rPr sz="1200" b="1">
                <a:solidFill>
                  <a:srgbClr val="5B3DA6"/>
                </a:solidFill>
                <a:latin typeface="Space Mono"/>
                <a:ea typeface="Space Mono"/>
                <a:cs typeface="Space Mono"/>
              </a:rPr>
              <a:t>package.json</a:t>
            </a:r>
          </a:p>
          <a:p xmlns:a="http://schemas.openxmlformats.org/drawingml/2006/main">
            <a:pPr algn="ctr">
              <a:defRPr sz="1200" b="1">
                <a:solidFill>
                  <a:srgbClr val="5B3DA6"/>
                </a:solidFill>
                <a:latin typeface="Space Mono"/>
                <a:ea typeface="Space Mono"/>
                <a:cs typeface="Space Mono"/>
              </a:defRPr>
            </a:pPr>
            <a:r>
              <a:rPr sz="1200" b="1">
                <a:solidFill>
                  <a:srgbClr val="5B3DA6"/>
                </a:solidFill>
                <a:latin typeface="Space Mono"/>
                <a:ea typeface="Space Mono"/>
                <a:cs typeface="Space Mono"/>
              </a:rPr>
              <a:t>node_modules</a:t>
            </a:r>
          </a:p>
          <a:p xmlns:a="http://schemas.openxmlformats.org/drawingml/2006/main">
            <a:pPr algn="ctr">
              <a:defRPr sz="1200" b="1">
                <a:solidFill>
                  <a:srgbClr val="5B3DA6"/>
                </a:solidFill>
                <a:latin typeface="Space Mono"/>
                <a:ea typeface="Space Mono"/>
                <a:cs typeface="Space Mono"/>
              </a:defRPr>
            </a:pPr>
            <a:r>
              <a:rPr sz="1200" b="1">
                <a:solidFill>
                  <a:srgbClr val="5B3DA6"/>
                </a:solidFill>
                <a:latin typeface="Space Mono"/>
                <a:ea typeface="Space Mono"/>
                <a:cs typeface="Space Mono"/>
              </a:rPr>
              <a:t>src/</a:t>
            </a:r>
          </a:p>
          <a:p xmlns:a="http://schemas.openxmlformats.org/drawingml/2006/main">
            <a:pPr algn="ctr">
              <a:defRPr sz="1200" b="1">
                <a:solidFill>
                  <a:srgbClr val="5B3DA6"/>
                </a:solidFill>
                <a:latin typeface="Space Mono"/>
                <a:ea typeface="Space Mono"/>
                <a:cs typeface="Space Mono"/>
              </a:defRPr>
            </a:pPr>
            <a:r>
              <a:rPr sz="1200" b="1">
                <a:solidFill>
                  <a:srgbClr val="5B3DA6"/>
                </a:solidFill>
                <a:latin typeface="Space Mono"/>
                <a:ea typeface="Space Mono"/>
                <a:cs typeface="Space Mono"/>
              </a:rPr>
              <a:t>dist/</a:t>
            </a:r>
          </a:p>
        </p:txBody>
      </p:sp>
      <p:sp>
        <p:nvSpPr>
          <p:cNvPr id="7" name="frontend-runtime">
            <a:extLst xmlns:a="http://schemas.openxmlformats.org/drawingml/2006/main">
              <a:ext uri="{FF2B5EF4-FFF2-40B4-BE49-F238E27FC236}">
                <a16:creationId xmlns:a16="http://schemas.microsoft.com/office/drawing/2014/main" id="{35C23A9B-EEB4-4642-BCCC-06647AE2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09850"/>
            <a:ext cx="1714500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F3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6857"/>
                </a:solidFill>
                <a:latin typeface="Space Mono"/>
                <a:ea typeface="Space Mono"/>
                <a:cs typeface="Space Mono"/>
              </a:defRPr>
            </a:pPr>
            <a:r>
              <a:rPr sz="1200" b="1">
                <a:solidFill>
                  <a:srgbClr val="166857"/>
                </a:solidFill>
                <a:latin typeface="Space Mono"/>
                <a:ea typeface="Space Mono"/>
                <a:cs typeface="Space Mono"/>
              </a:rPr>
              <a:t>runtime</a:t>
            </a:r>
          </a:p>
          <a:p xmlns:a="http://schemas.openxmlformats.org/drawingml/2006/main">
            <a:pPr algn="ctr">
              <a:defRPr sz="1200" b="1">
                <a:solidFill>
                  <a:srgbClr val="166857"/>
                </a:solidFill>
                <a:latin typeface="Space Mono"/>
                <a:ea typeface="Space Mono"/>
                <a:cs typeface="Space Mono"/>
              </a:defRPr>
            </a:pPr>
            <a:r>
              <a:rPr sz="1200" b="1">
                <a:solidFill>
                  <a:srgbClr val="166857"/>
                </a:solidFill>
                <a:latin typeface="Space Mono"/>
                <a:ea typeface="Space Mono"/>
                <a:cs typeface="Space Mono"/>
              </a:rPr>
              <a:t>Nginx</a:t>
            </a:r>
          </a:p>
          <a:p xmlns:a="http://schemas.openxmlformats.org/drawingml/2006/main">
            <a:pPr algn="ctr">
              <a:defRPr sz="1200" b="1">
                <a:solidFill>
                  <a:srgbClr val="166857"/>
                </a:solidFill>
                <a:latin typeface="Space Mono"/>
                <a:ea typeface="Space Mono"/>
                <a:cs typeface="Space Mono"/>
              </a:defRPr>
            </a:pPr>
            <a:r>
              <a:rPr sz="1200" b="1">
                <a:solidFill>
                  <a:srgbClr val="166857"/>
                </a:solidFill>
                <a:latin typeface="Space Mono"/>
                <a:ea typeface="Space Mono"/>
                <a:cs typeface="Space Mono"/>
              </a:rPr>
              <a:t>nginx.conf</a:t>
            </a:r>
          </a:p>
          <a:p xmlns:a="http://schemas.openxmlformats.org/drawingml/2006/main">
            <a:pPr algn="ctr">
              <a:defRPr sz="1200" b="1">
                <a:solidFill>
                  <a:srgbClr val="166857"/>
                </a:solidFill>
                <a:latin typeface="Space Mono"/>
                <a:ea typeface="Space Mono"/>
                <a:cs typeface="Space Mono"/>
              </a:defRPr>
            </a:pPr>
            <a:r>
              <a:rPr sz="1200" b="1">
                <a:solidFill>
                  <a:srgbClr val="166857"/>
                </a:solidFill>
                <a:latin typeface="Space Mono"/>
                <a:ea typeface="Space Mono"/>
                <a:cs typeface="Space Mono"/>
              </a:rPr>
              <a:t>dist/</a:t>
            </a:r>
          </a:p>
        </p:txBody>
      </p:sp>
      <p:cxnSp>
        <p:nvCxnSpPr>
          <p:cNvPr id="1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9382125" y="3252788"/>
            <a:ext cx="371475" cy="476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B3DA6"/>
            </a:solidFill>
            <a:prstDash val="solid"/>
            <a:tailEnd type="arrow" w="med" len="med"/>
          </a:ln>
        </p:spPr>
      </p:cxnSp>
      <p:sp>
        <p:nvSpPr>
          <p:cNvPr id="9" name="frontend-artifact">
            <a:extLst xmlns:a="http://schemas.openxmlformats.org/drawingml/2006/main">
              <a:ext uri="{FF2B5EF4-FFF2-40B4-BE49-F238E27FC236}">
                <a16:creationId xmlns:a16="http://schemas.microsoft.com/office/drawing/2014/main" id="{E33C0AE5-3732-4879-9E50-17B5E3A0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339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C433A"/>
                </a:solidFill>
                <a:latin typeface="Space Mono"/>
                <a:ea typeface="Space Mono"/>
                <a:cs typeface="Space Mono"/>
              </a:defRPr>
            </a:pPr>
            <a:r>
              <a:rPr sz="1050" b="1">
                <a:solidFill>
                  <a:srgbClr val="9C433A"/>
                </a:solidFill>
                <a:latin typeface="Space Mono"/>
                <a:ea typeface="Space Mono"/>
                <a:cs typeface="Space Mono"/>
              </a:rPr>
              <a:t>artefato: /app/dist</a:t>
            </a:r>
          </a:p>
        </p:txBody>
      </p:sp>
      <p:sp>
        <p:nvSpPr>
          <p:cNvPr id="10" name="frontend-footer">
            <a:extLst xmlns:a="http://schemas.openxmlformats.org/drawingml/2006/main">
              <a:ext uri="{FF2B5EF4-FFF2-40B4-BE49-F238E27FC236}">
                <a16:creationId xmlns:a16="http://schemas.microsoft.com/office/drawing/2014/main" id="{107CBF86-5967-493E-BEE4-F2A553C1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962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73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D6373"/>
                </a:solidFill>
                <a:latin typeface="Montserrat"/>
                <a:ea typeface="Montserrat"/>
                <a:cs typeface="Montserrat"/>
              </a:rPr>
              <a:t>A ordem de COPY também ajuda o cache: dependências só são reinstaladas quando package.json muda.</a:t>
            </a:r>
          </a:p>
        </p:txBody>
      </p:sp>
    </p:spTree>
    <p:extLst>
      <p:ext uri="{BB962C8B-B14F-4D97-AF65-F5344CB8AC3E}">
        <p14:creationId xmlns:p14="http://schemas.microsoft.com/office/powerpoint/2010/main" val="9985162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8">
            <a:extLst xmlns:a="http://schemas.openxmlformats.org/drawingml/2006/main">
              <a:ext uri="{FF2B5EF4-FFF2-40B4-BE49-F238E27FC236}">
                <a16:creationId xmlns:a16="http://schemas.microsoft.com/office/drawing/2014/main" id="{A28A6AE8-D6B4-4668-AC58-F1D575F6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5AD5"/>
                </a:solidFill>
                <a:latin typeface="Space Mono"/>
                <a:ea typeface="Space Mono"/>
                <a:cs typeface="Space Mono"/>
              </a:defRPr>
            </a:pPr>
            <a:r>
              <a:rPr sz="900" b="1">
                <a:solidFill>
                  <a:srgbClr val="805AD5"/>
                </a:solidFill>
                <a:latin typeface="Space Mono"/>
                <a:ea typeface="Space Mono"/>
                <a:cs typeface="Space Mono"/>
              </a:rPr>
              <a:t>ENCONTRO 04  /  08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9B1B9FF9-DE0B-4030-997D-7E56CA2D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API Flask: dependências preparadas antes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3C5C96FB-52A3-4A31-9795-4F273F98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73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5D6373"/>
                </a:solidFill>
                <a:latin typeface="Montserrat"/>
                <a:ea typeface="Montserrat"/>
                <a:cs typeface="Montserrat"/>
              </a:rPr>
              <a:t>O ambiente virtual é montado no builder e copiado para a imagem de execução.</a:t>
            </a:r>
          </a:p>
        </p:txBody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52D57BFA-248A-4902-8862-71E94B83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373"/>
                </a:solidFill>
                <a:latin typeface="Space Mono"/>
                <a:ea typeface="Space Mono"/>
                <a:cs typeface="Space Mono"/>
              </a:defRPr>
            </a:pPr>
            <a:r>
              <a:rPr sz="900" b="0">
                <a:solidFill>
                  <a:srgbClr val="5D6373"/>
                </a:solidFill>
                <a:latin typeface="Space Mono"/>
                <a:ea typeface="Space Mono"/>
                <a:cs typeface="Space Mono"/>
              </a:rPr>
              <a:t>08</a:t>
            </a:r>
          </a:p>
        </p:txBody>
      </p:sp>
      <p:sp>
        <p:nvSpPr>
          <p:cNvPr id="5" name="api-code">
            <a:extLst xmlns:a="http://schemas.openxmlformats.org/drawingml/2006/main">
              <a:ext uri="{FF2B5EF4-FFF2-40B4-BE49-F238E27FC236}">
                <a16:creationId xmlns:a16="http://schemas.microsoft.com/office/drawing/2014/main" id="{017EC073-C595-45AC-82B4-5A31CDAF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667500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6192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FROM python:3.12-slim AS builder</a:t>
            </a:r>
          </a:p>
          <a:p xmlns:a="http://schemas.openxmlformats.org/drawingml/2006/main">
            <a:pPr algn="l">
              <a:def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ENV VIRTUAL_ENV=/opt/venv</a:t>
            </a:r>
          </a:p>
          <a:p xmlns:a="http://schemas.openxmlformats.org/drawingml/2006/main">
            <a:pPr algn="l">
              <a:def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RUN python -m venv "$VIRTUAL_ENV"</a:t>
            </a:r>
          </a:p>
          <a:p xmlns:a="http://schemas.openxmlformats.org/drawingml/2006/main">
            <a:pPr algn="l">
              <a:def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COPY requirements.txt .</a:t>
            </a:r>
          </a:p>
          <a:p xmlns:a="http://schemas.openxmlformats.org/drawingml/2006/main">
            <a:pPr algn="l">
              <a:def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RUN pip install --no-cache-dir -r requirements.txt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FROM python:3.12-slim AS runtime</a:t>
            </a:r>
          </a:p>
          <a:p xmlns:a="http://schemas.openxmlformats.org/drawingml/2006/main">
            <a:pPr algn="l">
              <a:def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COPY --from=builder /opt/venv /opt/venv</a:t>
            </a:r>
          </a:p>
          <a:p xmlns:a="http://schemas.openxmlformats.org/drawingml/2006/main">
            <a:pPr algn="l">
              <a:def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COPY app.py .</a:t>
            </a:r>
          </a:p>
          <a:p xmlns:a="http://schemas.openxmlformats.org/drawingml/2006/main">
            <a:pPr algn="l">
              <a:def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CMD ["gunicorn", "--bind", "0.0.0.0:5000", "app:app"]</a:t>
            </a:r>
          </a:p>
        </p:txBody>
      </p:sp>
      <p:sp>
        <p:nvSpPr>
          <p:cNvPr id="6" name="venv">
            <a:extLst xmlns:a="http://schemas.openxmlformats.org/drawingml/2006/main">
              <a:ext uri="{FF2B5EF4-FFF2-40B4-BE49-F238E27FC236}">
                <a16:creationId xmlns:a16="http://schemas.microsoft.com/office/drawing/2014/main" id="{203DFF86-F061-46AF-97A5-D78E361C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57450"/>
            <a:ext cx="17145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7E6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C433A"/>
                </a:solidFill>
                <a:latin typeface="Space Mono"/>
                <a:ea typeface="Space Mono"/>
                <a:cs typeface="Space Mono"/>
              </a:defRPr>
            </a:pPr>
            <a:r>
              <a:rPr sz="1200" b="1">
                <a:solidFill>
                  <a:srgbClr val="9C433A"/>
                </a:solidFill>
                <a:latin typeface="Space Mono"/>
                <a:ea typeface="Space Mono"/>
                <a:cs typeface="Space Mono"/>
              </a:rPr>
              <a:t>/opt/venv</a:t>
            </a:r>
          </a:p>
          <a:p xmlns:a="http://schemas.openxmlformats.org/drawingml/2006/main">
            <a:pPr algn="ctr">
              <a:defRPr sz="1200" b="1">
                <a:solidFill>
                  <a:srgbClr val="9C433A"/>
                </a:solidFill>
                <a:latin typeface="Space Mono"/>
                <a:ea typeface="Space Mono"/>
                <a:cs typeface="Space Mono"/>
              </a:defRPr>
            </a:pPr>
            <a:r>
              <a:rPr sz="1200" b="1">
                <a:solidFill>
                  <a:srgbClr val="9C433A"/>
                </a:solidFill>
                <a:latin typeface="Space Mono"/>
                <a:ea typeface="Space Mono"/>
                <a:cs typeface="Space Mono"/>
              </a:rPr>
              <a:t>Flask</a:t>
            </a:r>
          </a:p>
          <a:p xmlns:a="http://schemas.openxmlformats.org/drawingml/2006/main">
            <a:pPr algn="ctr">
              <a:defRPr sz="1200" b="1">
                <a:solidFill>
                  <a:srgbClr val="9C433A"/>
                </a:solidFill>
                <a:latin typeface="Space Mono"/>
                <a:ea typeface="Space Mono"/>
                <a:cs typeface="Space Mono"/>
              </a:defRPr>
            </a:pPr>
            <a:r>
              <a:rPr sz="1200" b="1">
                <a:solidFill>
                  <a:srgbClr val="9C433A"/>
                </a:solidFill>
                <a:latin typeface="Space Mono"/>
                <a:ea typeface="Space Mono"/>
                <a:cs typeface="Space Mono"/>
              </a:rPr>
              <a:t>gunicorn</a:t>
            </a:r>
          </a:p>
        </p:txBody>
      </p:sp>
      <p:sp>
        <p:nvSpPr>
          <p:cNvPr id="7" name="worker">
            <a:extLst xmlns:a="http://schemas.openxmlformats.org/drawingml/2006/main">
              <a:ext uri="{FF2B5EF4-FFF2-40B4-BE49-F238E27FC236}">
                <a16:creationId xmlns:a16="http://schemas.microsoft.com/office/drawing/2014/main" id="{0E8053D8-AABF-4ECD-AB6E-20D8004D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57450"/>
            <a:ext cx="17145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DDF3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6857"/>
                </a:solidFill>
                <a:latin typeface="Space Mono"/>
                <a:ea typeface="Space Mono"/>
                <a:cs typeface="Space Mono"/>
              </a:defRPr>
            </a:pPr>
            <a:r>
              <a:rPr sz="1200" b="1">
                <a:solidFill>
                  <a:srgbClr val="166857"/>
                </a:solidFill>
                <a:latin typeface="Space Mono"/>
                <a:ea typeface="Space Mono"/>
                <a:cs typeface="Space Mono"/>
              </a:rPr>
              <a:t>app.py</a:t>
            </a:r>
          </a:p>
          <a:p xmlns:a="http://schemas.openxmlformats.org/drawingml/2006/main">
            <a:pPr algn="ctr">
              <a:defRPr sz="1200" b="1">
                <a:solidFill>
                  <a:srgbClr val="166857"/>
                </a:solidFill>
                <a:latin typeface="Space Mono"/>
                <a:ea typeface="Space Mono"/>
                <a:cs typeface="Space Mono"/>
              </a:defRPr>
            </a:pPr>
            <a:r>
              <a:rPr sz="1200" b="1">
                <a:solidFill>
                  <a:srgbClr val="166857"/>
                </a:solidFill>
                <a:latin typeface="Space Mono"/>
                <a:ea typeface="Space Mono"/>
                <a:cs typeface="Space Mono"/>
              </a:rPr>
              <a:t>Gunicorn :5000</a:t>
            </a:r>
          </a:p>
        </p:txBody>
      </p:sp>
      <p:cxnSp>
        <p:nvCxnSpPr>
          <p:cNvPr id="1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763125" y="3038475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B3DA6"/>
            </a:solidFill>
            <a:prstDash val="solid"/>
            <a:tailEnd type="arrow" w="med" len="med"/>
          </a:ln>
        </p:spPr>
      </p:cxnSp>
      <p:sp>
        <p:nvSpPr>
          <p:cNvPr id="9" name="api-explain">
            <a:extLst xmlns:a="http://schemas.openxmlformats.org/drawingml/2006/main">
              <a:ext uri="{FF2B5EF4-FFF2-40B4-BE49-F238E27FC236}">
                <a16:creationId xmlns:a16="http://schemas.microsoft.com/office/drawing/2014/main" id="{F3F47851-098B-4545-874A-6E7CF1B7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14800"/>
            <a:ext cx="3476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O estágio final recebe o ambiente virtual e o código que precisa executar. As ferramentas usadas no preparo não precisam estar nele.</a:t>
            </a:r>
          </a:p>
        </p:txBody>
      </p:sp>
      <p:sp>
        <p:nvSpPr>
          <p:cNvPr id="10" name="api-footer">
            <a:extLst xmlns:a="http://schemas.openxmlformats.org/drawingml/2006/main">
              <a:ext uri="{FF2B5EF4-FFF2-40B4-BE49-F238E27FC236}">
                <a16:creationId xmlns:a16="http://schemas.microsoft.com/office/drawing/2014/main" id="{DE5677BE-96B5-4614-B4F4-F26C9A0C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990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73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D6373"/>
                </a:solidFill>
                <a:latin typeface="Montserrat"/>
                <a:ea typeface="Montserrat"/>
                <a:cs typeface="Montserrat"/>
              </a:rPr>
              <a:t>EXPOSE 5000 documenta a porta da imagem. A publicação da porta continua sendo uma decisão do Compose.</a:t>
            </a:r>
          </a:p>
        </p:txBody>
      </p:sp>
    </p:spTree>
    <p:extLst>
      <p:ext uri="{BB962C8B-B14F-4D97-AF65-F5344CB8AC3E}">
        <p14:creationId xmlns:p14="http://schemas.microsoft.com/office/powerpoint/2010/main" val="16415371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9">
            <a:extLst xmlns:a="http://schemas.openxmlformats.org/drawingml/2006/main">
              <a:ext uri="{FF2B5EF4-FFF2-40B4-BE49-F238E27FC236}">
                <a16:creationId xmlns:a16="http://schemas.microsoft.com/office/drawing/2014/main" id="{0C162648-4DF8-4178-8CD1-ED81B56F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5AD5"/>
                </a:solidFill>
                <a:latin typeface="Space Mono"/>
                <a:ea typeface="Space Mono"/>
                <a:cs typeface="Space Mono"/>
              </a:defRPr>
            </a:pPr>
            <a:r>
              <a:rPr sz="900" b="1">
                <a:solidFill>
                  <a:srgbClr val="805AD5"/>
                </a:solidFill>
                <a:latin typeface="Space Mono"/>
                <a:ea typeface="Space Mono"/>
                <a:cs typeface="Space Mono"/>
              </a:rPr>
              <a:t>ENCONTRO 04  /  09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667742D8-0AB2-4C50-A483-331FCD89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54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Dockerfile e Compose têm responsabilidades diferentes</a:t>
            </a:r>
          </a:p>
        </p:txBody>
      </p:sp>
      <p:sp>
        <p:nvSpPr>
          <p:cNvPr id="3" name="subtitle-9">
            <a:extLst xmlns:a="http://schemas.openxmlformats.org/drawingml/2006/main">
              <a:ext uri="{FF2B5EF4-FFF2-40B4-BE49-F238E27FC236}">
                <a16:creationId xmlns:a16="http://schemas.microsoft.com/office/drawing/2014/main" id="{617E5080-1B75-45FA-AECD-18606780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73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5D6373"/>
                </a:solidFill>
                <a:latin typeface="Montserrat"/>
                <a:ea typeface="Montserrat"/>
                <a:cs typeface="Montserrat"/>
              </a:rPr>
              <a:t>A separação evita um erro recorrente: tentar declarar estágios de build no Compose.</a:t>
            </a:r>
          </a:p>
        </p:txBody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A89B84F0-E31E-494E-A48D-BFEEF7E0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373"/>
                </a:solidFill>
                <a:latin typeface="Space Mono"/>
                <a:ea typeface="Space Mono"/>
                <a:cs typeface="Space Mono"/>
              </a:defRPr>
            </a:pPr>
            <a:r>
              <a:rPr sz="900" b="0">
                <a:solidFill>
                  <a:srgbClr val="5D6373"/>
                </a:solidFill>
                <a:latin typeface="Space Mono"/>
                <a:ea typeface="Space Mono"/>
                <a:cs typeface="Space Mono"/>
              </a:rPr>
              <a:t>09</a:t>
            </a:r>
          </a:p>
        </p:txBody>
      </p:sp>
      <p:sp>
        <p:nvSpPr>
          <p:cNvPr id="5" name="left-column">
            <a:extLst xmlns:a="http://schemas.openxmlformats.org/drawingml/2006/main">
              <a:ext uri="{FF2B5EF4-FFF2-40B4-BE49-F238E27FC236}">
                <a16:creationId xmlns:a16="http://schemas.microsoft.com/office/drawing/2014/main" id="{4C0DB18D-593C-4031-B425-70CB6E19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85775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CE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ockerfile-head">
            <a:extLst xmlns:a="http://schemas.openxmlformats.org/drawingml/2006/main">
              <a:ext uri="{FF2B5EF4-FFF2-40B4-BE49-F238E27FC236}">
                <a16:creationId xmlns:a16="http://schemas.microsoft.com/office/drawing/2014/main" id="{87E03753-5399-4C6D-B532-6BFD30E1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003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B3DA6"/>
                </a:solidFill>
                <a:latin typeface="Space Mono"/>
                <a:ea typeface="Space Mono"/>
                <a:cs typeface="Space Mono"/>
              </a:defRPr>
            </a:pPr>
            <a:r>
              <a:rPr sz="2025" b="1">
                <a:solidFill>
                  <a:srgbClr val="5B3DA6"/>
                </a:solidFill>
                <a:latin typeface="Space Mono"/>
                <a:ea typeface="Space Mono"/>
                <a:cs typeface="Space Mono"/>
              </a:rPr>
              <a:t>Dockerfile</a:t>
            </a:r>
          </a:p>
        </p:txBody>
      </p:sp>
      <p:sp>
        <p:nvSpPr>
          <p:cNvPr id="7" name="dockerfile-copy">
            <a:extLst xmlns:a="http://schemas.openxmlformats.org/drawingml/2006/main">
              <a:ext uri="{FF2B5EF4-FFF2-40B4-BE49-F238E27FC236}">
                <a16:creationId xmlns:a16="http://schemas.microsoft.com/office/drawing/2014/main" id="{C1097DF3-7950-49C8-BF52-9688E2D3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48000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Define a imagem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FROM e estágios</a:t>
            </a:r>
          </a:p>
          <a:p xmlns:a="http://schemas.openxmlformats.org/drawingml/2006/main">
            <a:pPr algn="l">
              <a:defRPr sz="1575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RUN e COPY</a:t>
            </a:r>
          </a:p>
          <a:p xmlns:a="http://schemas.openxmlformats.org/drawingml/2006/main">
            <a:pPr algn="l">
              <a:defRPr sz="1575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COPY --from</a:t>
            </a:r>
          </a:p>
          <a:p xmlns:a="http://schemas.openxmlformats.org/drawingml/2006/main">
            <a:pPr algn="l">
              <a:defRPr sz="1575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CMD e EXPOSE</a:t>
            </a:r>
          </a:p>
        </p:txBody>
      </p:sp>
      <p:sp>
        <p:nvSpPr>
          <p:cNvPr id="8" name="right-column">
            <a:extLst xmlns:a="http://schemas.openxmlformats.org/drawingml/2006/main">
              <a:ext uri="{FF2B5EF4-FFF2-40B4-BE49-F238E27FC236}">
                <a16:creationId xmlns:a16="http://schemas.microsoft.com/office/drawing/2014/main" id="{0E487A30-92DA-4317-BF37-FBD52667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47875"/>
            <a:ext cx="485775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mpose-head">
            <a:extLst xmlns:a="http://schemas.openxmlformats.org/drawingml/2006/main">
              <a:ext uri="{FF2B5EF4-FFF2-40B4-BE49-F238E27FC236}">
                <a16:creationId xmlns:a16="http://schemas.microsoft.com/office/drawing/2014/main" id="{3A9C6192-7D8F-43E3-8D1B-37D1FD7A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00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6857"/>
                </a:solidFill>
                <a:latin typeface="Space Mono"/>
                <a:ea typeface="Space Mono"/>
                <a:cs typeface="Space Mono"/>
              </a:defRPr>
            </a:pPr>
            <a:r>
              <a:rPr sz="2025" b="1">
                <a:solidFill>
                  <a:srgbClr val="166857"/>
                </a:solidFill>
                <a:latin typeface="Space Mono"/>
                <a:ea typeface="Space Mono"/>
                <a:cs typeface="Space Mono"/>
              </a:rPr>
              <a:t>compose.yaml</a:t>
            </a:r>
          </a:p>
        </p:txBody>
      </p:sp>
      <p:sp>
        <p:nvSpPr>
          <p:cNvPr id="10" name="compose-copy">
            <a:extLst xmlns:a="http://schemas.openxmlformats.org/drawingml/2006/main">
              <a:ext uri="{FF2B5EF4-FFF2-40B4-BE49-F238E27FC236}">
                <a16:creationId xmlns:a16="http://schemas.microsoft.com/office/drawing/2014/main" id="{B8766141-5226-4528-AE1A-0B2ED5AF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48000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Cria e conecta serviços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services</a:t>
            </a:r>
          </a:p>
          <a:p xmlns:a="http://schemas.openxmlformats.org/drawingml/2006/main">
            <a:pPr algn="l">
              <a:defRPr sz="1575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build e ports</a:t>
            </a:r>
          </a:p>
          <a:p xmlns:a="http://schemas.openxmlformats.org/drawingml/2006/main">
            <a:pPr algn="l">
              <a:defRPr sz="1575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networks</a:t>
            </a:r>
          </a:p>
          <a:p xmlns:a="http://schemas.openxmlformats.org/drawingml/2006/main">
            <a:pPr algn="l">
              <a:defRPr sz="1575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depends_on</a:t>
            </a:r>
          </a:p>
        </p:txBody>
      </p:sp>
      <p:sp>
        <p:nvSpPr>
          <p:cNvPr id="11" name="scope-rule">
            <a:extLst xmlns:a="http://schemas.openxmlformats.org/drawingml/2006/main">
              <a:ext uri="{FF2B5EF4-FFF2-40B4-BE49-F238E27FC236}">
                <a16:creationId xmlns:a16="http://schemas.microsoft.com/office/drawing/2014/main" id="{7FD1E47B-E010-4CE8-8A12-58C3BCD8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19750"/>
            <a:ext cx="948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3DA6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5B3DA6"/>
                </a:solidFill>
                <a:latin typeface="Montserrat"/>
                <a:ea typeface="Montserrat"/>
                <a:cs typeface="Montserrat"/>
              </a:rPr>
              <a:t>Multi-stage fica no Dockerfile. Rede e portas ficam no Compose.</a:t>
            </a:r>
          </a:p>
        </p:txBody>
      </p:sp>
    </p:spTree>
    <p:extLst>
      <p:ext uri="{BB962C8B-B14F-4D97-AF65-F5344CB8AC3E}">
        <p14:creationId xmlns:p14="http://schemas.microsoft.com/office/powerpoint/2010/main" val="21189968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10">
            <a:extLst xmlns:a="http://schemas.openxmlformats.org/drawingml/2006/main">
              <a:ext uri="{FF2B5EF4-FFF2-40B4-BE49-F238E27FC236}">
                <a16:creationId xmlns:a16="http://schemas.microsoft.com/office/drawing/2014/main" id="{59C9E138-18F3-4B54-916A-D805B93A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5AD5"/>
                </a:solidFill>
                <a:latin typeface="Space Mono"/>
                <a:ea typeface="Space Mono"/>
                <a:cs typeface="Space Mono"/>
              </a:defRPr>
            </a:pPr>
            <a:r>
              <a:rPr sz="900" b="1">
                <a:solidFill>
                  <a:srgbClr val="805AD5"/>
                </a:solidFill>
                <a:latin typeface="Space Mono"/>
                <a:ea typeface="Space Mono"/>
                <a:cs typeface="Space Mono"/>
              </a:rPr>
              <a:t>ENCONTRO 04  /  10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D732DF29-3AAB-48FD-8FD3-9CE5F093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Compose: rede interna e porta publicada</a:t>
            </a:r>
          </a:p>
        </p:txBody>
      </p:sp>
      <p:sp>
        <p:nvSpPr>
          <p:cNvPr id="3" name="subtitle-10">
            <a:extLst xmlns:a="http://schemas.openxmlformats.org/drawingml/2006/main">
              <a:ext uri="{FF2B5EF4-FFF2-40B4-BE49-F238E27FC236}">
                <a16:creationId xmlns:a16="http://schemas.microsoft.com/office/drawing/2014/main" id="{DE2649A6-4CFE-4916-8045-1DC8FD80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73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5D6373"/>
                </a:solidFill>
                <a:latin typeface="Montserrat"/>
                <a:ea typeface="Montserrat"/>
                <a:cs typeface="Montserrat"/>
              </a:rPr>
              <a:t>O frontend atende o navegador. A API permanece acessível apenas na rede dos serviços.</a:t>
            </a:r>
          </a:p>
        </p:txBody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D68C3052-5412-4662-8841-9BDFA392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373"/>
                </a:solidFill>
                <a:latin typeface="Space Mono"/>
                <a:ea typeface="Space Mono"/>
                <a:cs typeface="Space Mono"/>
              </a:defRPr>
            </a:pPr>
            <a:r>
              <a:rPr sz="900" b="0">
                <a:solidFill>
                  <a:srgbClr val="5D6373"/>
                </a:solidFill>
                <a:latin typeface="Space Mono"/>
                <a:ea typeface="Space Mono"/>
                <a:cs typeface="Space Mono"/>
              </a:rPr>
              <a:t>10</a:t>
            </a:r>
          </a:p>
        </p:txBody>
      </p:sp>
      <p:sp>
        <p:nvSpPr>
          <p:cNvPr id="5" name="compose-code">
            <a:extLst xmlns:a="http://schemas.openxmlformats.org/drawingml/2006/main">
              <a:ext uri="{FF2B5EF4-FFF2-40B4-BE49-F238E27FC236}">
                <a16:creationId xmlns:a16="http://schemas.microsoft.com/office/drawing/2014/main" id="{D16FE7A2-5D4D-4A72-9988-81B94C6B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385762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6192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services:</a:t>
            </a:r>
          </a:p>
          <a:p xmlns:a="http://schemas.openxmlformats.org/drawingml/2006/main">
            <a:pPr algn="l">
              <a:def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  frontend:</a:t>
            </a:r>
          </a:p>
          <a:p xmlns:a="http://schemas.openxmlformats.org/drawingml/2006/main">
            <a:pPr algn="l">
              <a:def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    build: ./frontend</a:t>
            </a:r>
          </a:p>
          <a:p xmlns:a="http://schemas.openxmlformats.org/drawingml/2006/main">
            <a:pPr algn="l">
              <a:def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    ports:</a:t>
            </a:r>
          </a:p>
          <a:p xmlns:a="http://schemas.openxmlformats.org/drawingml/2006/main">
            <a:pPr algn="l">
              <a:def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      - "8080:80"</a:t>
            </a:r>
          </a:p>
          <a:p xmlns:a="http://schemas.openxmlformats.org/drawingml/2006/main">
            <a:pPr algn="l">
              <a:def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    networks: [calculadora-net]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  api:</a:t>
            </a:r>
          </a:p>
          <a:p xmlns:a="http://schemas.openxmlformats.org/drawingml/2006/main">
            <a:pPr algn="l">
              <a:def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    build: ./api</a:t>
            </a:r>
          </a:p>
          <a:p xmlns:a="http://schemas.openxmlformats.org/drawingml/2006/main">
            <a:pPr algn="l">
              <a:def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    expose: ["5000"]</a:t>
            </a:r>
          </a:p>
          <a:p xmlns:a="http://schemas.openxmlformats.org/drawingml/2006/main">
            <a:pPr algn="l">
              <a:def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    networks: [calculadora-net]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networks:</a:t>
            </a:r>
          </a:p>
          <a:p xmlns:a="http://schemas.openxmlformats.org/drawingml/2006/main">
            <a:pPr algn="l">
              <a:def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  calculadora-net:</a:t>
            </a:r>
          </a:p>
          <a:p xmlns:a="http://schemas.openxmlformats.org/drawingml/2006/main">
            <a:pPr algn="l">
              <a:def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    driver: bridge</a:t>
            </a:r>
          </a:p>
        </p:txBody>
      </p:sp>
      <p:sp>
        <p:nvSpPr>
          <p:cNvPr id="6" name="host">
            <a:extLst xmlns:a="http://schemas.openxmlformats.org/drawingml/2006/main">
              <a:ext uri="{FF2B5EF4-FFF2-40B4-BE49-F238E27FC236}">
                <a16:creationId xmlns:a16="http://schemas.microsoft.com/office/drawing/2014/main" id="{EF51C4D4-2BE3-4EED-8953-15267C5F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71750"/>
            <a:ext cx="1714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DCE9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4E93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44E93"/>
                </a:solidFill>
                <a:latin typeface="Montserrat"/>
                <a:ea typeface="Montserrat"/>
                <a:cs typeface="Montserrat"/>
              </a:rPr>
              <a:t>navegador</a:t>
            </a:r>
          </a:p>
          <a:p xmlns:a="http://schemas.openxmlformats.org/drawingml/2006/main">
            <a:pPr algn="ctr">
              <a:defRPr sz="1275" b="1">
                <a:solidFill>
                  <a:srgbClr val="244E93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244E93"/>
                </a:solidFill>
                <a:latin typeface="Montserrat"/>
                <a:ea typeface="Montserrat"/>
                <a:cs typeface="Montserrat"/>
              </a:rPr>
              <a:t>localhost:8080</a:t>
            </a:r>
          </a:p>
        </p:txBody>
      </p:sp>
      <p:sp>
        <p:nvSpPr>
          <p:cNvPr id="7" name="front2">
            <a:extLst xmlns:a="http://schemas.openxmlformats.org/drawingml/2006/main">
              <a:ext uri="{FF2B5EF4-FFF2-40B4-BE49-F238E27FC236}">
                <a16:creationId xmlns:a16="http://schemas.microsoft.com/office/drawing/2014/main" id="{BCE1D3DF-DA36-4C30-BCCD-5D0FC136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14287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CE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B3DA6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5B3DA6"/>
                </a:solidFill>
                <a:latin typeface="Montserrat"/>
                <a:ea typeface="Montserrat"/>
                <a:cs typeface="Montserrat"/>
              </a:rPr>
              <a:t>frontend</a:t>
            </a:r>
          </a:p>
          <a:p xmlns:a="http://schemas.openxmlformats.org/drawingml/2006/main">
            <a:pPr algn="ctr">
              <a:defRPr sz="1275" b="1">
                <a:solidFill>
                  <a:srgbClr val="5B3DA6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5B3DA6"/>
                </a:solidFill>
                <a:latin typeface="Montserrat"/>
                <a:ea typeface="Montserrat"/>
                <a:cs typeface="Montserrat"/>
              </a:rPr>
              <a:t>:80</a:t>
            </a:r>
          </a:p>
        </p:txBody>
      </p:sp>
      <p:sp>
        <p:nvSpPr>
          <p:cNvPr id="8" name="api2">
            <a:extLst xmlns:a="http://schemas.openxmlformats.org/drawingml/2006/main">
              <a:ext uri="{FF2B5EF4-FFF2-40B4-BE49-F238E27FC236}">
                <a16:creationId xmlns:a16="http://schemas.microsoft.com/office/drawing/2014/main" id="{2135FF4B-88C2-4F25-B958-735FD5F5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33875"/>
            <a:ext cx="14287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DDF3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6857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66857"/>
                </a:solidFill>
                <a:latin typeface="Montserrat"/>
                <a:ea typeface="Montserrat"/>
                <a:cs typeface="Montserrat"/>
              </a:rPr>
              <a:t>api</a:t>
            </a:r>
          </a:p>
          <a:p xmlns:a="http://schemas.openxmlformats.org/drawingml/2006/main">
            <a:pPr algn="ctr">
              <a:defRPr sz="1275" b="1">
                <a:solidFill>
                  <a:srgbClr val="166857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66857"/>
                </a:solidFill>
                <a:latin typeface="Montserrat"/>
                <a:ea typeface="Montserrat"/>
                <a:cs typeface="Montserrat"/>
              </a:rPr>
              <a:t>:5000</a:t>
            </a:r>
          </a:p>
        </p:txBody>
      </p:sp>
      <p:cxnSp>
        <p:nvCxnSpPr>
          <p:cNvPr id="2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420100" y="30670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4E93"/>
            </a:solidFill>
            <a:prstDash val="solid"/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667875" y="3562350"/>
            <a:ext cx="0" cy="7715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05AD5"/>
            </a:solidFill>
            <a:prstDash val="solid"/>
            <a:tailEnd type="arrow" w="med" len="med"/>
          </a:ln>
        </p:spPr>
      </p:cxnSp>
      <p:sp>
        <p:nvSpPr>
          <p:cNvPr id="11" name="compose-network-outline">
            <a:extLst xmlns:a="http://schemas.openxmlformats.org/drawingml/2006/main">
              <a:ext uri="{FF2B5EF4-FFF2-40B4-BE49-F238E27FC236}">
                <a16:creationId xmlns:a16="http://schemas.microsoft.com/office/drawing/2014/main" id="{E4603903-9771-40CC-ABBC-E0984CC2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90750"/>
            <a:ext cx="2095500" cy="3476625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805AD5"/>
            </a:solidFill>
            <a:prstDash val="solid"/>
          </a:ln>
        </p:spPr>
      </p:sp>
      <p:sp>
        <p:nvSpPr>
          <p:cNvPr id="12" name="compose-network-label">
            <a:extLst xmlns:a="http://schemas.openxmlformats.org/drawingml/2006/main">
              <a:ext uri="{FF2B5EF4-FFF2-40B4-BE49-F238E27FC236}">
                <a16:creationId xmlns:a16="http://schemas.microsoft.com/office/drawing/2014/main" id="{C98245D6-BA8A-4551-B844-39D8C804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8102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05AD5"/>
                </a:solidFill>
                <a:latin typeface="Space Mono"/>
                <a:ea typeface="Space Mono"/>
                <a:cs typeface="Space Mono"/>
              </a:defRPr>
            </a:pPr>
            <a:r>
              <a:rPr sz="900" b="1">
                <a:solidFill>
                  <a:srgbClr val="805AD5"/>
                </a:solidFill>
                <a:latin typeface="Space Mono"/>
                <a:ea typeface="Space Mono"/>
                <a:cs typeface="Space Mono"/>
              </a:rPr>
              <a:t>calculadora-net</a:t>
            </a:r>
          </a:p>
        </p:txBody>
      </p:sp>
      <p:sp>
        <p:nvSpPr>
          <p:cNvPr id="13" name="compose-note">
            <a:extLst xmlns:a="http://schemas.openxmlformats.org/drawingml/2006/main">
              <a:ext uri="{FF2B5EF4-FFF2-40B4-BE49-F238E27FC236}">
                <a16:creationId xmlns:a16="http://schemas.microsoft.com/office/drawing/2014/main" id="{313D8663-F3BF-4C61-833E-73172114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191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277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373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5D6373"/>
                </a:solidFill>
                <a:latin typeface="Montserrat"/>
                <a:ea typeface="Montserrat"/>
                <a:cs typeface="Montserrat"/>
              </a:rPr>
              <a:t>ports publica uma porta no computador. expose documenta a porta interna do serviço.</a:t>
            </a:r>
          </a:p>
        </p:txBody>
      </p:sp>
    </p:spTree>
    <p:extLst>
      <p:ext uri="{BB962C8B-B14F-4D97-AF65-F5344CB8AC3E}">
        <p14:creationId xmlns:p14="http://schemas.microsoft.com/office/powerpoint/2010/main" val="3530091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11">
            <a:extLst xmlns:a="http://schemas.openxmlformats.org/drawingml/2006/main">
              <a:ext uri="{FF2B5EF4-FFF2-40B4-BE49-F238E27FC236}">
                <a16:creationId xmlns:a16="http://schemas.microsoft.com/office/drawing/2014/main" id="{93EC879D-E63D-4B90-9FA2-018D45ED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5AD5"/>
                </a:solidFill>
                <a:latin typeface="Space Mono"/>
                <a:ea typeface="Space Mono"/>
                <a:cs typeface="Space Mono"/>
              </a:defRPr>
            </a:pPr>
            <a:r>
              <a:rPr sz="900" b="1">
                <a:solidFill>
                  <a:srgbClr val="805AD5"/>
                </a:solidFill>
                <a:latin typeface="Space Mono"/>
                <a:ea typeface="Space Mono"/>
                <a:cs typeface="Space Mono"/>
              </a:rPr>
              <a:t>ENCONTRO 04  /  11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FB29662B-BB92-4549-944C-BBAED258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Demonstração ao vivo</a:t>
            </a:r>
          </a:p>
        </p:txBody>
      </p:sp>
      <p:sp>
        <p:nvSpPr>
          <p:cNvPr id="3" name="subtitle-11">
            <a:extLst xmlns:a="http://schemas.openxmlformats.org/drawingml/2006/main">
              <a:ext uri="{FF2B5EF4-FFF2-40B4-BE49-F238E27FC236}">
                <a16:creationId xmlns:a16="http://schemas.microsoft.com/office/drawing/2014/main" id="{0DE238BD-837A-4C57-B72C-22815D18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73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5D6373"/>
                </a:solidFill>
                <a:latin typeface="Montserrat"/>
                <a:ea typeface="Montserrat"/>
                <a:cs typeface="Montserrat"/>
              </a:rPr>
              <a:t>O teste precisa revelar tanto a interface quanto o estado dos serviços.</a:t>
            </a:r>
          </a:p>
        </p:txBody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5490F16A-2050-47E3-A91B-C0C9D8CB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373"/>
                </a:solidFill>
                <a:latin typeface="Space Mono"/>
                <a:ea typeface="Space Mono"/>
                <a:cs typeface="Space Mono"/>
              </a:defRPr>
            </a:pPr>
            <a:r>
              <a:rPr sz="900" b="0">
                <a:solidFill>
                  <a:srgbClr val="5D6373"/>
                </a:solidFill>
                <a:latin typeface="Space Mono"/>
                <a:ea typeface="Space Mono"/>
                <a:cs typeface="Space Mono"/>
              </a:rPr>
              <a:t>11</a:t>
            </a:r>
          </a:p>
        </p:txBody>
      </p:sp>
      <p:sp>
        <p:nvSpPr>
          <p:cNvPr id="5" name="demo-step-1">
            <a:extLst xmlns:a="http://schemas.openxmlformats.org/drawingml/2006/main">
              <a:ext uri="{FF2B5EF4-FFF2-40B4-BE49-F238E27FC236}">
                <a16:creationId xmlns:a16="http://schemas.microsoft.com/office/drawing/2014/main" id="{2A57A45E-239F-4421-88DF-470D4AFD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762125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CE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B3DA6"/>
                </a:solidFill>
                <a:latin typeface="Space Mono"/>
                <a:ea typeface="Space Mono"/>
                <a:cs typeface="Space Mono"/>
              </a:defRPr>
            </a:pPr>
            <a:r>
              <a:rPr sz="1575" b="1">
                <a:solidFill>
                  <a:srgbClr val="5B3DA6"/>
                </a:solidFill>
                <a:latin typeface="Space Mono"/>
                <a:ea typeface="Space Mono"/>
                <a:cs typeface="Space Mono"/>
              </a:rPr>
              <a:t>01</a:t>
            </a:r>
          </a:p>
          <a:p xmlns:a="http://schemas.openxmlformats.org/drawingml/2006/main">
            <a:pPr algn="ctr">
              <a:defRPr sz="1575" b="1">
                <a:solidFill>
                  <a:srgbClr val="5B3DA6"/>
                </a:solidFill>
                <a:latin typeface="Space Mono"/>
                <a:ea typeface="Space Mono"/>
                <a:cs typeface="Space Mono"/>
              </a:defRPr>
            </a:pPr>
            <a:r>
              <a:rPr sz="1575" b="1">
                <a:solidFill>
                  <a:srgbClr val="5B3DA6"/>
                </a:solidFill>
                <a:latin typeface="Space Mono"/>
                <a:ea typeface="Space Mono"/>
                <a:cs typeface="Space Mono"/>
              </a:rPr>
              <a:t>config</a:t>
            </a:r>
          </a:p>
        </p:txBody>
      </p:sp>
      <p:sp>
        <p:nvSpPr>
          <p:cNvPr id="6" name="demo-step-2">
            <a:extLst xmlns:a="http://schemas.openxmlformats.org/drawingml/2006/main">
              <a:ext uri="{FF2B5EF4-FFF2-40B4-BE49-F238E27FC236}">
                <a16:creationId xmlns:a16="http://schemas.microsoft.com/office/drawing/2014/main" id="{6D1D1EB9-80BE-47A7-B536-C77CC4E9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90750"/>
            <a:ext cx="1762125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CE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B3DA6"/>
                </a:solidFill>
                <a:latin typeface="Space Mono"/>
                <a:ea typeface="Space Mono"/>
                <a:cs typeface="Space Mono"/>
              </a:defRPr>
            </a:pPr>
            <a:r>
              <a:rPr sz="1575" b="1">
                <a:solidFill>
                  <a:srgbClr val="5B3DA6"/>
                </a:solidFill>
                <a:latin typeface="Space Mono"/>
                <a:ea typeface="Space Mono"/>
                <a:cs typeface="Space Mono"/>
              </a:rPr>
              <a:t>02</a:t>
            </a:r>
          </a:p>
          <a:p xmlns:a="http://schemas.openxmlformats.org/drawingml/2006/main">
            <a:pPr algn="ctr">
              <a:defRPr sz="1575" b="1">
                <a:solidFill>
                  <a:srgbClr val="5B3DA6"/>
                </a:solidFill>
                <a:latin typeface="Space Mono"/>
                <a:ea typeface="Space Mono"/>
                <a:cs typeface="Space Mono"/>
              </a:defRPr>
            </a:pPr>
            <a:r>
              <a:rPr sz="1575" b="1">
                <a:solidFill>
                  <a:srgbClr val="5B3DA6"/>
                </a:solidFill>
                <a:latin typeface="Space Mono"/>
                <a:ea typeface="Space Mono"/>
                <a:cs typeface="Space Mono"/>
              </a:rPr>
              <a:t>build e up</a:t>
            </a:r>
          </a:p>
        </p:txBody>
      </p:sp>
      <p:sp>
        <p:nvSpPr>
          <p:cNvPr id="7" name="demo-step-3">
            <a:extLst xmlns:a="http://schemas.openxmlformats.org/drawingml/2006/main">
              <a:ext uri="{FF2B5EF4-FFF2-40B4-BE49-F238E27FC236}">
                <a16:creationId xmlns:a16="http://schemas.microsoft.com/office/drawing/2014/main" id="{ABBDA97E-9F68-4F4C-B98C-F0F248A2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1762125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DF3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6857"/>
                </a:solidFill>
                <a:latin typeface="Space Mono"/>
                <a:ea typeface="Space Mono"/>
                <a:cs typeface="Space Mono"/>
              </a:defRPr>
            </a:pPr>
            <a:r>
              <a:rPr sz="1575" b="1">
                <a:solidFill>
                  <a:srgbClr val="166857"/>
                </a:solidFill>
                <a:latin typeface="Space Mono"/>
                <a:ea typeface="Space Mono"/>
                <a:cs typeface="Space Mono"/>
              </a:rPr>
              <a:t>03</a:t>
            </a:r>
          </a:p>
          <a:p xmlns:a="http://schemas.openxmlformats.org/drawingml/2006/main">
            <a:pPr algn="ctr">
              <a:defRPr sz="1575" b="1">
                <a:solidFill>
                  <a:srgbClr val="166857"/>
                </a:solidFill>
                <a:latin typeface="Space Mono"/>
                <a:ea typeface="Space Mono"/>
                <a:cs typeface="Space Mono"/>
              </a:defRPr>
            </a:pPr>
            <a:r>
              <a:rPr sz="1575" b="1">
                <a:solidFill>
                  <a:srgbClr val="166857"/>
                </a:solidFill>
                <a:latin typeface="Space Mono"/>
                <a:ea typeface="Space Mono"/>
                <a:cs typeface="Space Mono"/>
              </a:rPr>
              <a:t>calcular</a:t>
            </a:r>
          </a:p>
        </p:txBody>
      </p:sp>
      <p:sp>
        <p:nvSpPr>
          <p:cNvPr id="8" name="demo-step-4">
            <a:extLst xmlns:a="http://schemas.openxmlformats.org/drawingml/2006/main">
              <a:ext uri="{FF2B5EF4-FFF2-40B4-BE49-F238E27FC236}">
                <a16:creationId xmlns:a16="http://schemas.microsoft.com/office/drawing/2014/main" id="{2885E093-A9BA-4500-BD36-AE70E739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90750"/>
            <a:ext cx="1762125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DF3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6857"/>
                </a:solidFill>
                <a:latin typeface="Space Mono"/>
                <a:ea typeface="Space Mono"/>
                <a:cs typeface="Space Mono"/>
              </a:defRPr>
            </a:pPr>
            <a:r>
              <a:rPr sz="1575" b="1">
                <a:solidFill>
                  <a:srgbClr val="166857"/>
                </a:solidFill>
                <a:latin typeface="Space Mono"/>
                <a:ea typeface="Space Mono"/>
                <a:cs typeface="Space Mono"/>
              </a:rPr>
              <a:t>04</a:t>
            </a:r>
          </a:p>
          <a:p xmlns:a="http://schemas.openxmlformats.org/drawingml/2006/main">
            <a:pPr algn="ctr">
              <a:defRPr sz="1575" b="1">
                <a:solidFill>
                  <a:srgbClr val="166857"/>
                </a:solidFill>
                <a:latin typeface="Space Mono"/>
                <a:ea typeface="Space Mono"/>
                <a:cs typeface="Space Mono"/>
              </a:defRPr>
            </a:pPr>
            <a:r>
              <a:rPr sz="1575" b="1">
                <a:solidFill>
                  <a:srgbClr val="166857"/>
                </a:solidFill>
                <a:latin typeface="Space Mono"/>
                <a:ea typeface="Space Mono"/>
                <a:cs typeface="Space Mono"/>
              </a:rPr>
              <a:t>inspecionar</a:t>
            </a:r>
          </a:p>
        </p:txBody>
      </p:sp>
      <p:sp>
        <p:nvSpPr>
          <p:cNvPr id="9" name="demo-code">
            <a:extLst xmlns:a="http://schemas.openxmlformats.org/drawingml/2006/main">
              <a:ext uri="{FF2B5EF4-FFF2-40B4-BE49-F238E27FC236}">
                <a16:creationId xmlns:a16="http://schemas.microsoft.com/office/drawing/2014/main" id="{6768AEEC-BE06-4430-B62D-E0D6AEDD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48125"/>
            <a:ext cx="670560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16192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3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docker compose config</a:t>
            </a:r>
          </a:p>
          <a:p xmlns:a="http://schemas.openxmlformats.org/drawingml/2006/main">
            <a:pPr algn="l">
              <a:defRPr sz="13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3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docker compose up --build -d</a:t>
            </a:r>
          </a:p>
          <a:p xmlns:a="http://schemas.openxmlformats.org/drawingml/2006/main">
            <a:pPr algn="l">
              <a:defRPr sz="13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3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docker compose ps</a:t>
            </a:r>
          </a:p>
          <a:p xmlns:a="http://schemas.openxmlformats.org/drawingml/2006/main">
            <a:pPr algn="l">
              <a:defRPr sz="13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3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docker compose logs -f</a:t>
            </a:r>
          </a:p>
          <a:p xmlns:a="http://schemas.openxmlformats.org/drawingml/2006/main">
            <a:pPr algn="l">
              <a:defRPr sz="13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3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docker compose down</a:t>
            </a:r>
          </a:p>
        </p:txBody>
      </p:sp>
      <p:sp>
        <p:nvSpPr>
          <p:cNvPr id="10" name="demo-evidence">
            <a:extLst xmlns:a="http://schemas.openxmlformats.org/drawingml/2006/main">
              <a:ext uri="{FF2B5EF4-FFF2-40B4-BE49-F238E27FC236}">
                <a16:creationId xmlns:a16="http://schemas.microsoft.com/office/drawing/2014/main" id="{DB5DDC71-DDA1-4A06-AE86-EE6A19DB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912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09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Evidência esperada: a calculadora abre em localhost:8080, a operação retorna um resultado e a API não possui porta publicada no computador.</a:t>
            </a:r>
          </a:p>
        </p:txBody>
      </p:sp>
    </p:spTree>
    <p:extLst>
      <p:ext uri="{BB962C8B-B14F-4D97-AF65-F5344CB8AC3E}">
        <p14:creationId xmlns:p14="http://schemas.microsoft.com/office/powerpoint/2010/main" val="17615142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5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dark-kicker">
            <a:extLst xmlns:a="http://schemas.openxmlformats.org/drawingml/2006/main">
              <a:ext uri="{FF2B5EF4-FFF2-40B4-BE49-F238E27FC236}">
                <a16:creationId xmlns:a16="http://schemas.microsoft.com/office/drawing/2014/main" id="{D1CE78DC-C562-41B1-A4D7-4033518C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DF3ED"/>
                </a:solidFill>
                <a:latin typeface="Space Mono"/>
                <a:ea typeface="Space Mono"/>
                <a:cs typeface="Space Mono"/>
              </a:defRPr>
            </a:pPr>
            <a:r>
              <a:rPr sz="900" b="1">
                <a:solidFill>
                  <a:srgbClr val="DDF3ED"/>
                </a:solidFill>
                <a:latin typeface="Space Mono"/>
                <a:ea typeface="Space Mono"/>
                <a:cs typeface="Space Mono"/>
              </a:rPr>
              <a:t>ENCONTRO 04  /  12</a:t>
            </a:r>
          </a:p>
        </p:txBody>
      </p:sp>
      <p:sp>
        <p:nvSpPr>
          <p:cNvPr id="2" name="dark-title">
            <a:extLst xmlns:a="http://schemas.openxmlformats.org/drawingml/2006/main">
              <a:ext uri="{FF2B5EF4-FFF2-40B4-BE49-F238E27FC236}">
                <a16:creationId xmlns:a16="http://schemas.microsoft.com/office/drawing/2014/main" id="{EFF3FC94-A08F-4EFE-807B-3D381A4F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Desafio 5C: backend em Go</a:t>
            </a:r>
          </a:p>
        </p:txBody>
      </p:sp>
      <p:sp>
        <p:nvSpPr>
          <p:cNvPr id="3" name="dark-subtitle">
            <a:extLst xmlns:a="http://schemas.openxmlformats.org/drawingml/2006/main">
              <a:ext uri="{FF2B5EF4-FFF2-40B4-BE49-F238E27FC236}">
                <a16:creationId xmlns:a16="http://schemas.microsoft.com/office/drawing/2014/main" id="{FB8A56CC-A656-4CF8-8DFB-202C831C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ED0DB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CED0DB"/>
                </a:solidFill>
                <a:latin typeface="Montserrat"/>
                <a:ea typeface="Montserrat"/>
                <a:cs typeface="Montserrat"/>
              </a:rPr>
              <a:t>A interface React permanece a mesma. A equipe reconstrói a infraestrutura da nova API.</a:t>
            </a:r>
          </a:p>
        </p:txBody>
      </p:sp>
      <p:sp>
        <p:nvSpPr>
          <p:cNvPr id="4" name="dark-page">
            <a:extLst xmlns:a="http://schemas.openxmlformats.org/drawingml/2006/main">
              <a:ext uri="{FF2B5EF4-FFF2-40B4-BE49-F238E27FC236}">
                <a16:creationId xmlns:a16="http://schemas.microsoft.com/office/drawing/2014/main" id="{89E74FF4-99A6-4571-B674-C16C6392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ED0DB"/>
                </a:solidFill>
                <a:latin typeface="Space Mono"/>
                <a:ea typeface="Space Mono"/>
                <a:cs typeface="Space Mono"/>
              </a:defRPr>
            </a:pPr>
            <a:r>
              <a:rPr sz="900" b="0">
                <a:solidFill>
                  <a:srgbClr val="CED0DB"/>
                </a:solidFill>
                <a:latin typeface="Space Mono"/>
                <a:ea typeface="Space Mono"/>
                <a:cs typeface="Space Mono"/>
              </a:rPr>
              <a:t>12</a:t>
            </a:r>
          </a:p>
        </p:txBody>
      </p:sp>
      <p:sp>
        <p:nvSpPr>
          <p:cNvPr id="5" name="challenge-req-1">
            <a:extLst xmlns:a="http://schemas.openxmlformats.org/drawingml/2006/main">
              <a:ext uri="{FF2B5EF4-FFF2-40B4-BE49-F238E27FC236}">
                <a16:creationId xmlns:a16="http://schemas.microsoft.com/office/drawing/2014/main" id="{F3C9ACEF-D283-4760-BDC4-589838FC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1907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827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API Go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fornecida</a:t>
            </a:r>
          </a:p>
        </p:txBody>
      </p:sp>
      <p:sp>
        <p:nvSpPr>
          <p:cNvPr id="6" name="challenge-req-2">
            <a:extLst xmlns:a="http://schemas.openxmlformats.org/drawingml/2006/main">
              <a:ext uri="{FF2B5EF4-FFF2-40B4-BE49-F238E27FC236}">
                <a16:creationId xmlns:a16="http://schemas.microsoft.com/office/drawing/2014/main" id="{594852A1-CCC6-476A-A968-5FC2C98F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38375"/>
            <a:ext cx="21907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827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Dockerfile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multi-stage</a:t>
            </a:r>
          </a:p>
        </p:txBody>
      </p:sp>
      <p:sp>
        <p:nvSpPr>
          <p:cNvPr id="7" name="challenge-req-3">
            <a:extLst xmlns:a="http://schemas.openxmlformats.org/drawingml/2006/main">
              <a:ext uri="{FF2B5EF4-FFF2-40B4-BE49-F238E27FC236}">
                <a16:creationId xmlns:a16="http://schemas.microsoft.com/office/drawing/2014/main" id="{E3B777D4-F9D4-4485-B424-1F5C2C6F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38375"/>
            <a:ext cx="21907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827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compose.yaml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com rede</a:t>
            </a:r>
          </a:p>
        </p:txBody>
      </p:sp>
      <p:sp>
        <p:nvSpPr>
          <p:cNvPr id="8" name="challenge-req-4">
            <a:extLst xmlns:a="http://schemas.openxmlformats.org/drawingml/2006/main">
              <a:ext uri="{FF2B5EF4-FFF2-40B4-BE49-F238E27FC236}">
                <a16:creationId xmlns:a16="http://schemas.microsoft.com/office/drawing/2014/main" id="{2880C0D5-1345-49F1-8FCB-65BD558E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38375"/>
            <a:ext cx="21907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8273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evidência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no registro 5C</a:t>
            </a:r>
          </a:p>
        </p:txBody>
      </p:sp>
      <p:sp>
        <p:nvSpPr>
          <p:cNvPr id="9" name="challenge-contract">
            <a:extLst xmlns:a="http://schemas.openxmlformats.org/drawingml/2006/main">
              <a:ext uri="{FF2B5EF4-FFF2-40B4-BE49-F238E27FC236}">
                <a16:creationId xmlns:a16="http://schemas.microsoft.com/office/drawing/2014/main" id="{A6BF0C07-9CE9-4A93-8948-17324328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DF3ED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DDF3ED"/>
                </a:solidFill>
                <a:latin typeface="Montserrat"/>
                <a:ea typeface="Montserrat"/>
                <a:cs typeface="Montserrat"/>
              </a:rPr>
              <a:t>Contrato que precisa continuar funcionando</a:t>
            </a:r>
          </a:p>
        </p:txBody>
      </p:sp>
      <p:sp>
        <p:nvSpPr>
          <p:cNvPr id="10" name="challenge-json">
            <a:extLst xmlns:a="http://schemas.openxmlformats.org/drawingml/2006/main">
              <a:ext uri="{FF2B5EF4-FFF2-40B4-BE49-F238E27FC236}">
                <a16:creationId xmlns:a16="http://schemas.microsoft.com/office/drawing/2014/main" id="{99D24B1E-0259-4850-A464-22223086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490537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16192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POST /calcular</a:t>
            </a:r>
          </a:p>
          <a:p xmlns:a="http://schemas.openxmlformats.org/drawingml/2006/main">
            <a:pPr algn="l">
              <a:def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{ "a": 10, "b": 2, "operacao": "dividir"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defRPr>
            </a:pPr>
            <a:r>
              <a:rPr sz="1050" b="0">
                <a:solidFill>
                  <a:srgbClr val="F3F1FF"/>
                </a:solidFill>
                <a:latin typeface="Space Mono"/>
                <a:ea typeface="Space Mono"/>
                <a:cs typeface="Space Mono"/>
              </a:rPr>
              <a:t>200  { "resultado": 5 }</a:t>
            </a:r>
          </a:p>
        </p:txBody>
      </p:sp>
      <p:sp>
        <p:nvSpPr>
          <p:cNvPr id="11" name="challenge-no-front">
            <a:extLst xmlns:a="http://schemas.openxmlformats.org/drawingml/2006/main">
              <a:ext uri="{FF2B5EF4-FFF2-40B4-BE49-F238E27FC236}">
                <a16:creationId xmlns:a16="http://schemas.microsoft.com/office/drawing/2014/main" id="{8BE065E3-4830-4915-A0B7-B1AB2BE9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9582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3E4EC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E3E4EC"/>
                </a:solidFill>
                <a:latin typeface="Montserrat"/>
                <a:ea typeface="Montserrat"/>
                <a:cs typeface="Montserrat"/>
              </a:rPr>
              <a:t>O frontend não aparece nesta pasta do desafio. A equipe aponta o contexto de build para o frontend já apresentado na demonstração anterior.</a:t>
            </a:r>
          </a:p>
        </p:txBody>
      </p:sp>
    </p:spTree>
    <p:extLst>
      <p:ext uri="{BB962C8B-B14F-4D97-AF65-F5344CB8AC3E}">
        <p14:creationId xmlns:p14="http://schemas.microsoft.com/office/powerpoint/2010/main" val="21368448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13">
            <a:extLst xmlns:a="http://schemas.openxmlformats.org/drawingml/2006/main">
              <a:ext uri="{FF2B5EF4-FFF2-40B4-BE49-F238E27FC236}">
                <a16:creationId xmlns:a16="http://schemas.microsoft.com/office/drawing/2014/main" id="{D04EE1EE-A361-424A-8F28-E0841D27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5AD5"/>
                </a:solidFill>
                <a:latin typeface="Space Mono"/>
                <a:ea typeface="Space Mono"/>
                <a:cs typeface="Space Mono"/>
              </a:defRPr>
            </a:pPr>
            <a:r>
              <a:rPr sz="900" b="1">
                <a:solidFill>
                  <a:srgbClr val="805AD5"/>
                </a:solidFill>
                <a:latin typeface="Space Mono"/>
                <a:ea typeface="Space Mono"/>
                <a:cs typeface="Space Mono"/>
              </a:rPr>
              <a:t>ENCONTRO 04  /  13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5BA3BCA2-9AFA-4525-B550-01B82C88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O ciclo 5C no desafio</a:t>
            </a:r>
          </a:p>
        </p:txBody>
      </p:sp>
      <p:sp>
        <p:nvSpPr>
          <p:cNvPr id="3" name="subtitle-13">
            <a:extLst xmlns:a="http://schemas.openxmlformats.org/drawingml/2006/main">
              <a:ext uri="{FF2B5EF4-FFF2-40B4-BE49-F238E27FC236}">
                <a16:creationId xmlns:a16="http://schemas.microsoft.com/office/drawing/2014/main" id="{DAA87858-BB11-4882-85B6-515C774D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73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5D6373"/>
                </a:solidFill>
                <a:latin typeface="Montserrat"/>
                <a:ea typeface="Montserrat"/>
                <a:cs typeface="Montserrat"/>
              </a:rPr>
              <a:t>A resposta de uma IA ou de um colega entra como hipótese e precisa de evidência.</a:t>
            </a:r>
          </a:p>
        </p:txBody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996EC3A8-E3BA-41DF-8576-9D98628E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373"/>
                </a:solidFill>
                <a:latin typeface="Space Mono"/>
                <a:ea typeface="Space Mono"/>
                <a:cs typeface="Space Mono"/>
              </a:defRPr>
            </a:pPr>
            <a:r>
              <a:rPr sz="900" b="0">
                <a:solidFill>
                  <a:srgbClr val="5D6373"/>
                </a:solidFill>
                <a:latin typeface="Space Mono"/>
                <a:ea typeface="Space Mono"/>
                <a:cs typeface="Space Mono"/>
              </a:rPr>
              <a:t>13</a:t>
            </a:r>
          </a:p>
        </p:txBody>
      </p:sp>
      <p:sp>
        <p:nvSpPr>
          <p:cNvPr id="5" name="cycle-0">
            <a:extLst xmlns:a="http://schemas.openxmlformats.org/drawingml/2006/main">
              <a:ext uri="{FF2B5EF4-FFF2-40B4-BE49-F238E27FC236}">
                <a16:creationId xmlns:a16="http://schemas.microsoft.com/office/drawing/2014/main" id="{C38E6101-B92B-4F08-877C-289CF8F3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9526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CE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3DA6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B3DA6"/>
                </a:solidFill>
                <a:latin typeface="Montserrat"/>
                <a:ea typeface="Montserrat"/>
                <a:cs typeface="Montserrat"/>
              </a:rPr>
              <a:t>01</a:t>
            </a:r>
          </a:p>
          <a:p xmlns:a="http://schemas.openxmlformats.org/drawingml/2006/main">
            <a:pPr algn="ctr">
              <a:defRPr sz="1200" b="1">
                <a:solidFill>
                  <a:srgbClr val="5B3DA6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B3DA6"/>
                </a:solidFill>
                <a:latin typeface="Montserrat"/>
                <a:ea typeface="Montserrat"/>
                <a:cs typeface="Montserrat"/>
              </a:rPr>
              <a:t>Contextualizar</a:t>
            </a:r>
          </a:p>
          <a:p xmlns:a="http://schemas.openxmlformats.org/drawingml/2006/main">
            <a:pPr algn="ctr">
              <a:defRPr sz="1200" b="1">
                <a:solidFill>
                  <a:srgbClr val="5B3DA6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B3DA6"/>
                </a:solidFill>
                <a:latin typeface="Montserrat"/>
                <a:ea typeface="Montserrat"/>
                <a:cs typeface="Montserrat"/>
              </a:rPr>
              <a:t>O que o frontend espera da API?</a:t>
            </a:r>
          </a:p>
        </p:txBody>
      </p:sp>
      <p:sp>
        <p:nvSpPr>
          <p:cNvPr id="6" name="cycle-1">
            <a:extLst xmlns:a="http://schemas.openxmlformats.org/drawingml/2006/main">
              <a:ext uri="{FF2B5EF4-FFF2-40B4-BE49-F238E27FC236}">
                <a16:creationId xmlns:a16="http://schemas.microsoft.com/office/drawing/2014/main" id="{84CBB1F3-CD5C-4001-81BE-CEE0118B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19526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3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6857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166857"/>
                </a:solidFill>
                <a:latin typeface="Montserrat"/>
                <a:ea typeface="Montserrat"/>
                <a:cs typeface="Montserrat"/>
              </a:rPr>
              <a:t>02</a:t>
            </a:r>
          </a:p>
          <a:p xmlns:a="http://schemas.openxmlformats.org/drawingml/2006/main">
            <a:pPr algn="ctr">
              <a:defRPr sz="1200" b="1">
                <a:solidFill>
                  <a:srgbClr val="166857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166857"/>
                </a:solidFill>
                <a:latin typeface="Montserrat"/>
                <a:ea typeface="Montserrat"/>
                <a:cs typeface="Montserrat"/>
              </a:rPr>
              <a:t>Consultar</a:t>
            </a:r>
          </a:p>
          <a:p xmlns:a="http://schemas.openxmlformats.org/drawingml/2006/main">
            <a:pPr algn="ctr">
              <a:defRPr sz="1200" b="1">
                <a:solidFill>
                  <a:srgbClr val="166857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166857"/>
                </a:solidFill>
                <a:latin typeface="Montserrat"/>
                <a:ea typeface="Montserrat"/>
                <a:cs typeface="Montserrat"/>
              </a:rPr>
              <a:t>Qual dúvida pequena precisamos resolver?</a:t>
            </a:r>
          </a:p>
        </p:txBody>
      </p:sp>
      <p:sp>
        <p:nvSpPr>
          <p:cNvPr id="7" name="cycle-2">
            <a:extLst xmlns:a="http://schemas.openxmlformats.org/drawingml/2006/main">
              <a:ext uri="{FF2B5EF4-FFF2-40B4-BE49-F238E27FC236}">
                <a16:creationId xmlns:a16="http://schemas.microsoft.com/office/drawing/2014/main" id="{ED23C74F-0BE6-4EBF-B6D0-F04B8F8C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81250"/>
            <a:ext cx="19526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CE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3DA6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B3DA6"/>
                </a:solidFill>
                <a:latin typeface="Montserrat"/>
                <a:ea typeface="Montserrat"/>
                <a:cs typeface="Montserrat"/>
              </a:rPr>
              <a:t>03</a:t>
            </a:r>
          </a:p>
          <a:p xmlns:a="http://schemas.openxmlformats.org/drawingml/2006/main">
            <a:pPr algn="ctr">
              <a:defRPr sz="1200" b="1">
                <a:solidFill>
                  <a:srgbClr val="5B3DA6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B3DA6"/>
                </a:solidFill>
                <a:latin typeface="Montserrat"/>
                <a:ea typeface="Montserrat"/>
                <a:cs typeface="Montserrat"/>
              </a:rPr>
              <a:t>Confrontar</a:t>
            </a:r>
          </a:p>
          <a:p xmlns:a="http://schemas.openxmlformats.org/drawingml/2006/main">
            <a:pPr algn="ctr">
              <a:defRPr sz="1200" b="1">
                <a:solidFill>
                  <a:srgbClr val="5B3DA6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B3DA6"/>
                </a:solidFill>
                <a:latin typeface="Montserrat"/>
                <a:ea typeface="Montserrat"/>
                <a:cs typeface="Montserrat"/>
              </a:rPr>
              <a:t>Qual fonte e teste verificam a hipótese?</a:t>
            </a:r>
          </a:p>
        </p:txBody>
      </p:sp>
      <p:sp>
        <p:nvSpPr>
          <p:cNvPr id="8" name="cycle-3">
            <a:extLst xmlns:a="http://schemas.openxmlformats.org/drawingml/2006/main">
              <a:ext uri="{FF2B5EF4-FFF2-40B4-BE49-F238E27FC236}">
                <a16:creationId xmlns:a16="http://schemas.microsoft.com/office/drawing/2014/main" id="{C5443278-9EB5-451D-80BF-895E6CD1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19526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3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6857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166857"/>
                </a:solidFill>
                <a:latin typeface="Montserrat"/>
                <a:ea typeface="Montserrat"/>
                <a:cs typeface="Montserrat"/>
              </a:rPr>
              <a:t>04</a:t>
            </a:r>
          </a:p>
          <a:p xmlns:a="http://schemas.openxmlformats.org/drawingml/2006/main">
            <a:pPr algn="ctr">
              <a:defRPr sz="1200" b="1">
                <a:solidFill>
                  <a:srgbClr val="166857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166857"/>
                </a:solidFill>
                <a:latin typeface="Montserrat"/>
                <a:ea typeface="Montserrat"/>
                <a:cs typeface="Montserrat"/>
              </a:rPr>
              <a:t>Construir</a:t>
            </a:r>
          </a:p>
          <a:p xmlns:a="http://schemas.openxmlformats.org/drawingml/2006/main">
            <a:pPr algn="ctr">
              <a:defRPr sz="1200" b="1">
                <a:solidFill>
                  <a:srgbClr val="166857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166857"/>
                </a:solidFill>
                <a:latin typeface="Montserrat"/>
                <a:ea typeface="Montserrat"/>
                <a:cs typeface="Montserrat"/>
              </a:rPr>
              <a:t>Que decisão entrou no Dockerfile e no Compose?</a:t>
            </a:r>
          </a:p>
        </p:txBody>
      </p:sp>
      <p:sp>
        <p:nvSpPr>
          <p:cNvPr id="9" name="cycle-4">
            <a:extLst xmlns:a="http://schemas.openxmlformats.org/drawingml/2006/main">
              <a:ext uri="{FF2B5EF4-FFF2-40B4-BE49-F238E27FC236}">
                <a16:creationId xmlns:a16="http://schemas.microsoft.com/office/drawing/2014/main" id="{C28814F4-EB6A-4140-BFD0-A8C7941F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19526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CE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3DA6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B3DA6"/>
                </a:solidFill>
                <a:latin typeface="Montserrat"/>
                <a:ea typeface="Montserrat"/>
                <a:cs typeface="Montserrat"/>
              </a:rPr>
              <a:t>05</a:t>
            </a:r>
          </a:p>
          <a:p xmlns:a="http://schemas.openxmlformats.org/drawingml/2006/main">
            <a:pPr algn="ctr">
              <a:defRPr sz="1200" b="1">
                <a:solidFill>
                  <a:srgbClr val="5B3DA6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B3DA6"/>
                </a:solidFill>
                <a:latin typeface="Montserrat"/>
                <a:ea typeface="Montserrat"/>
                <a:cs typeface="Montserrat"/>
              </a:rPr>
              <a:t>Comprovar</a:t>
            </a:r>
          </a:p>
          <a:p xmlns:a="http://schemas.openxmlformats.org/drawingml/2006/main">
            <a:pPr algn="ctr">
              <a:defRPr sz="1200" b="1">
                <a:solidFill>
                  <a:srgbClr val="5B3DA6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B3DA6"/>
                </a:solidFill>
                <a:latin typeface="Montserrat"/>
                <a:ea typeface="Montserrat"/>
                <a:cs typeface="Montserrat"/>
              </a:rPr>
              <a:t>Que resultado prova o requisito?</a:t>
            </a:r>
          </a:p>
        </p:txBody>
      </p: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638425" y="32385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05AD5"/>
            </a:solidFill>
            <a:prstDash val="soli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29175" y="32385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05AD5"/>
            </a:solidFill>
            <a:prstDash val="solid"/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19925" y="32385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05AD5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10675" y="32385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05AD5"/>
            </a:solidFill>
            <a:prstDash val="solid"/>
            <a:tailEnd type="arrow" w="med" len="med"/>
          </a:ln>
        </p:spPr>
      </p:cxnSp>
      <p:sp>
        <p:nvSpPr>
          <p:cNvPr id="14" name="cycle-result">
            <a:extLst xmlns:a="http://schemas.openxmlformats.org/drawingml/2006/main">
              <a:ext uri="{FF2B5EF4-FFF2-40B4-BE49-F238E27FC236}">
                <a16:creationId xmlns:a16="http://schemas.microsoft.com/office/drawing/2014/main" id="{52165E78-58CE-4D55-9BBD-8E43DA2D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A entrega combina arquivo criado, execução observável e explicação da decisão tomada.</a:t>
            </a:r>
          </a:p>
        </p:txBody>
      </p:sp>
    </p:spTree>
    <p:extLst>
      <p:ext uri="{BB962C8B-B14F-4D97-AF65-F5344CB8AC3E}">
        <p14:creationId xmlns:p14="http://schemas.microsoft.com/office/powerpoint/2010/main" val="15062319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14">
            <a:extLst xmlns:a="http://schemas.openxmlformats.org/drawingml/2006/main">
              <a:ext uri="{FF2B5EF4-FFF2-40B4-BE49-F238E27FC236}">
                <a16:creationId xmlns:a16="http://schemas.microsoft.com/office/drawing/2014/main" id="{05183763-B568-41BB-A506-7C9F6300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5AD5"/>
                </a:solidFill>
                <a:latin typeface="Space Mono"/>
                <a:ea typeface="Space Mono"/>
                <a:cs typeface="Space Mono"/>
              </a:defRPr>
            </a:pPr>
            <a:r>
              <a:rPr sz="900" b="1">
                <a:solidFill>
                  <a:srgbClr val="805AD5"/>
                </a:solidFill>
                <a:latin typeface="Space Mono"/>
                <a:ea typeface="Space Mono"/>
                <a:cs typeface="Space Mono"/>
              </a:rPr>
              <a:t>ENCONTRO 04  /  14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14FB6E5E-8E4E-4469-BDA6-A4F7CB6F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Critérios de domínio</a:t>
            </a:r>
          </a:p>
        </p:txBody>
      </p:sp>
      <p:sp>
        <p:nvSpPr>
          <p:cNvPr id="3" name="subtitle-14">
            <a:extLst xmlns:a="http://schemas.openxmlformats.org/drawingml/2006/main">
              <a:ext uri="{FF2B5EF4-FFF2-40B4-BE49-F238E27FC236}">
                <a16:creationId xmlns:a16="http://schemas.microsoft.com/office/drawing/2014/main" id="{34344060-E418-4B6F-8541-44558002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73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5D6373"/>
                </a:solidFill>
                <a:latin typeface="Montserrat"/>
                <a:ea typeface="Montserrat"/>
                <a:cs typeface="Montserrat"/>
              </a:rPr>
              <a:t>Ao final, cada estudante deve conseguir explicar estas quatro relações.</a:t>
            </a:r>
          </a:p>
        </p:txBody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EA5A07D1-076A-434C-80EE-EE4AE458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373"/>
                </a:solidFill>
                <a:latin typeface="Space Mono"/>
                <a:ea typeface="Space Mono"/>
                <a:cs typeface="Space Mono"/>
              </a:defRPr>
            </a:pPr>
            <a:r>
              <a:rPr sz="900" b="0">
                <a:solidFill>
                  <a:srgbClr val="5D6373"/>
                </a:solidFill>
                <a:latin typeface="Space Mono"/>
                <a:ea typeface="Space Mono"/>
                <a:cs typeface="Space Mono"/>
              </a:rPr>
              <a:t>14</a:t>
            </a:r>
          </a:p>
        </p:txBody>
      </p:sp>
      <p:sp>
        <p:nvSpPr>
          <p:cNvPr id="5" name="mastery-01">
            <a:extLst xmlns:a="http://schemas.openxmlformats.org/drawingml/2006/main">
              <a:ext uri="{FF2B5EF4-FFF2-40B4-BE49-F238E27FC236}">
                <a16:creationId xmlns:a16="http://schemas.microsoft.com/office/drawing/2014/main" id="{AC2FDCDE-E966-4A9C-BB94-F755C6D7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4286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ECE8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B3DA6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B3DA6"/>
                </a:solidFill>
                <a:latin typeface="Montserrat"/>
                <a:ea typeface="Montserrat"/>
                <a:cs typeface="Montserrat"/>
              </a:rPr>
              <a:t>Estágio de build</a:t>
            </a:r>
          </a:p>
          <a:p xmlns:a="http://schemas.openxmlformats.org/drawingml/2006/main">
            <a:pPr algn="ctr">
              <a:defRPr sz="1725" b="1">
                <a:solidFill>
                  <a:srgbClr val="5B3DA6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B3DA6"/>
                </a:solidFill>
                <a:latin typeface="Montserrat"/>
                <a:ea typeface="Montserrat"/>
                <a:cs typeface="Montserrat"/>
              </a:rPr>
              <a:t>produz um artefato</a:t>
            </a:r>
          </a:p>
        </p:txBody>
      </p:sp>
      <p:sp>
        <p:nvSpPr>
          <p:cNvPr id="6" name="mastery-02">
            <a:extLst xmlns:a="http://schemas.openxmlformats.org/drawingml/2006/main">
              <a:ext uri="{FF2B5EF4-FFF2-40B4-BE49-F238E27FC236}">
                <a16:creationId xmlns:a16="http://schemas.microsoft.com/office/drawing/2014/main" id="{083722AD-CF76-4B4A-AE48-F4138255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66950"/>
            <a:ext cx="4286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7E6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9C433A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9C433A"/>
                </a:solidFill>
                <a:latin typeface="Montserrat"/>
                <a:ea typeface="Montserrat"/>
                <a:cs typeface="Montserrat"/>
              </a:rPr>
              <a:t>COPY --from</a:t>
            </a:r>
          </a:p>
          <a:p xmlns:a="http://schemas.openxmlformats.org/drawingml/2006/main">
            <a:pPr algn="ctr">
              <a:defRPr sz="1725" b="1">
                <a:solidFill>
                  <a:srgbClr val="9C433A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9C433A"/>
                </a:solidFill>
                <a:latin typeface="Montserrat"/>
                <a:ea typeface="Montserrat"/>
                <a:cs typeface="Montserrat"/>
              </a:rPr>
              <a:t>seleciona o que passa</a:t>
            </a:r>
          </a:p>
        </p:txBody>
      </p:sp>
      <p:sp>
        <p:nvSpPr>
          <p:cNvPr id="7" name="mastery-03">
            <a:extLst xmlns:a="http://schemas.openxmlformats.org/drawingml/2006/main">
              <a:ext uri="{FF2B5EF4-FFF2-40B4-BE49-F238E27FC236}">
                <a16:creationId xmlns:a16="http://schemas.microsoft.com/office/drawing/2014/main" id="{8416CB40-96C8-46D7-86BA-44C7D5A8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4286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CE9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4E93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244E93"/>
                </a:solidFill>
                <a:latin typeface="Montserrat"/>
                <a:ea typeface="Montserrat"/>
                <a:cs typeface="Montserrat"/>
              </a:rPr>
              <a:t>Dockerfile</a:t>
            </a:r>
          </a:p>
          <a:p xmlns:a="http://schemas.openxmlformats.org/drawingml/2006/main">
            <a:pPr algn="ctr">
              <a:defRPr sz="1725" b="1">
                <a:solidFill>
                  <a:srgbClr val="244E93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244E93"/>
                </a:solidFill>
                <a:latin typeface="Montserrat"/>
                <a:ea typeface="Montserrat"/>
                <a:cs typeface="Montserrat"/>
              </a:rPr>
              <a:t>constrói a imagem</a:t>
            </a:r>
          </a:p>
        </p:txBody>
      </p:sp>
      <p:sp>
        <p:nvSpPr>
          <p:cNvPr id="8" name="mastery-04">
            <a:extLst xmlns:a="http://schemas.openxmlformats.org/drawingml/2006/main">
              <a:ext uri="{FF2B5EF4-FFF2-40B4-BE49-F238E27FC236}">
                <a16:creationId xmlns:a16="http://schemas.microsoft.com/office/drawing/2014/main" id="{C0C16C2A-FCCF-4750-A82C-A3A77299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33800"/>
            <a:ext cx="4286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DF3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6857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166857"/>
                </a:solidFill>
                <a:latin typeface="Montserrat"/>
                <a:ea typeface="Montserrat"/>
                <a:cs typeface="Montserrat"/>
              </a:rPr>
              <a:t>Compose</a:t>
            </a:r>
          </a:p>
          <a:p xmlns:a="http://schemas.openxmlformats.org/drawingml/2006/main">
            <a:pPr algn="ctr">
              <a:defRPr sz="1725" b="1">
                <a:solidFill>
                  <a:srgbClr val="166857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166857"/>
                </a:solidFill>
                <a:latin typeface="Montserrat"/>
                <a:ea typeface="Montserrat"/>
                <a:cs typeface="Montserrat"/>
              </a:rPr>
              <a:t>conecta os containers</a:t>
            </a:r>
          </a:p>
        </p:txBody>
      </p:sp>
      <p:sp>
        <p:nvSpPr>
          <p:cNvPr id="9" name="mastery-finish">
            <a:extLst xmlns:a="http://schemas.openxmlformats.org/drawingml/2006/main">
              <a:ext uri="{FF2B5EF4-FFF2-40B4-BE49-F238E27FC236}">
                <a16:creationId xmlns:a16="http://schemas.microsoft.com/office/drawing/2014/main" id="{013530E0-E9D4-4307-85BE-E7B2812A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429250"/>
            <a:ext cx="9105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34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1B27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181B27"/>
                </a:solidFill>
                <a:latin typeface="Montserrat"/>
                <a:ea typeface="Montserrat"/>
                <a:cs typeface="Montserrat"/>
              </a:rPr>
              <a:t>A evidência final não é apenas o container em execução. É a capacidade de justificar o que foi construído, copiado e conectado.</a:t>
            </a:r>
          </a:p>
        </p:txBody>
      </p:sp>
    </p:spTree>
    <p:extLst>
      <p:ext uri="{BB962C8B-B14F-4D97-AF65-F5344CB8AC3E}">
        <p14:creationId xmlns:p14="http://schemas.microsoft.com/office/powerpoint/2010/main" val="7949296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2026-09-22T12:29:40.1840000Z</dcterms:created>
  <dcterms:modified xsi:type="dcterms:W3CDTF">2026-09-22T12:29:40.1840000Z</dcterms:modified>
</coreProperties>
</file>